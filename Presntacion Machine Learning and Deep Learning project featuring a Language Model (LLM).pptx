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542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CDEBD-8F50-4F1C-8C01-2501C6F35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7D1BC2-D183-4038-898B-AD2A16C20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14F454-798A-459B-A77A-0E75C7FC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7F057-8831-46F4-AD76-B52A25AB7D4F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0AF4C3-FC34-4B5C-8B00-7370749E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22988B-5B8B-49F4-B244-CBC9AAF6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E074-A10A-4A77-B8A0-ECDCA41187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31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082B0-2DBB-4F3F-916C-51FC528B9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2353E6-E80F-4EAC-B70C-32EAC08DD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EB5BF6-F48C-49B8-BFA7-68EFFA6B6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7F057-8831-46F4-AD76-B52A25AB7D4F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28E28B-D036-4551-913A-D19A759DB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B711B-71D3-46A5-88E3-D84C1AD4B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E074-A10A-4A77-B8A0-ECDCA41187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540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811AD-F655-4270-AFF1-0AF89F36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40D5FC-8F30-4A8B-87D8-41DCA21E7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0D65AE-649C-42D0-8956-4BEA9025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7F057-8831-46F4-AD76-B52A25AB7D4F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8B852C-00FA-4363-A542-AA42C1B1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331B4F-1E4F-477F-B830-B9EBB397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E074-A10A-4A77-B8A0-ECDCA41187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4837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B54BB-A041-4421-97BE-7E878C1C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DC3E3E-E309-4812-91E9-7E5A03935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735669-EEF8-4608-8E17-08376CEF0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7F7CFE-4EF2-4272-B53C-CE9F0D8DB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7F057-8831-46F4-AD76-B52A25AB7D4F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9FA3C0-155A-4735-8147-A20372B6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2FE003-C380-4617-9B62-CD229614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E074-A10A-4A77-B8A0-ECDCA41187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279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8C3C6-F0D8-4A23-8862-46714AF5E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FE1B43-2293-4091-8F7B-BE4DDDE5B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B296EF-31A1-480D-8349-5EFC4547B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F78DDA6-6DC3-4B9A-B4F9-8028CDBF4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EB6E9CF-F3E1-443E-984F-4FB9A60E7C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1581A86-49B7-4522-BC53-5490F0CD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7F057-8831-46F4-AD76-B52A25AB7D4F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2FAF925-83B0-4986-BFB6-9E7951429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9065FCA-4FA2-4BE1-814C-DCD3737E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E074-A10A-4A77-B8A0-ECDCA41187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9074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CEA9D-E179-4051-B9D3-5079CF5F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6FBAA70-6B15-4E76-BAE0-58431DE4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7F057-8831-46F4-AD76-B52A25AB7D4F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D2DC899-88C2-4CF2-821D-137B775EE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54D86E-F78C-4FF4-985D-11F1BDDE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E074-A10A-4A77-B8A0-ECDCA41187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2584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D7BA518-61B7-477D-976F-B82B68796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7F057-8831-46F4-AD76-B52A25AB7D4F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A89CE2-640E-49AC-B5C7-3B83A526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C69A4A-0437-4707-AD51-1529A7D2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E074-A10A-4A77-B8A0-ECDCA41187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967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C7A54D-66D3-4D6D-A6C6-3A879A90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B98AA1-8F16-4665-88AB-DBC745FDE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53E3AD-5D59-42B5-BC8B-264895CE2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04568E-ABF8-4619-BF53-6AD5C600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7F057-8831-46F4-AD76-B52A25AB7D4F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B26B6E-907C-4458-AAE6-1427F4BD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138219-F8A9-47B0-B7E2-D97A2160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E074-A10A-4A77-B8A0-ECDCA41187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70C28-4499-4526-B678-E01106DAE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EC11054-74CB-4952-8CF0-1BE973198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F667A8-AF56-4186-A503-983E6D149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C8E23B-3818-47FE-9671-1D4B1DEC2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7F057-8831-46F4-AD76-B52A25AB7D4F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F139DD-0EBD-4D9E-B183-687FDC934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085FE0-FD54-442E-BFF6-E0B53D74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E074-A10A-4A77-B8A0-ECDCA41187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415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E0F75-2F01-427E-95CF-F6E4838C8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F14CA8-2AEE-4A3C-98B5-012689BA4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BDBAC9-1B33-468D-B30D-4609EE562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7F057-8831-46F4-AD76-B52A25AB7D4F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69E14-CCCB-4FA7-A51A-2F0B930D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ACD554-6983-404F-B266-351C4FD42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E074-A10A-4A77-B8A0-ECDCA41187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855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A8F7F3A-AD9D-4DA8-B0D4-9C3278546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5CE25F-6B53-454F-A216-4EBE0191E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1B3C5D-1C17-4F59-89F4-6BC5C605C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7F057-8831-46F4-AD76-B52A25AB7D4F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C36F0E-5319-4660-9D99-831B89E15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7F1FE3-C42F-49A1-8C1F-149349F2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E074-A10A-4A77-B8A0-ECDCA41187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468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C303721-9A1A-4602-8310-869145D0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B53B36-73BD-4105-9E25-F35C353E2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DEBB3-0310-449E-B906-77360F0AE2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7F057-8831-46F4-AD76-B52A25AB7D4F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530803-3666-47B6-875F-F75354F1C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3355D7-D84E-4428-AEF3-F66444B45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7E074-A10A-4A77-B8A0-ECDCA41187A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073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B7054A1-91CE-40AB-9AA6-33568938A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5199"/>
            <a:ext cx="12192000" cy="2998470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B3297F58-E0E7-4CAF-B694-670AE8627513}"/>
              </a:ext>
            </a:extLst>
          </p:cNvPr>
          <p:cNvSpPr txBox="1"/>
          <p:nvPr/>
        </p:nvSpPr>
        <p:spPr>
          <a:xfrm>
            <a:off x="0" y="142280"/>
            <a:ext cx="12620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600" dirty="0">
                <a:solidFill>
                  <a:schemeClr val="bg1"/>
                </a:solidFill>
                <a:latin typeface="Eras Bold ITC" panose="020B0907030504020204" pitchFamily="34" charset="0"/>
              </a:rPr>
              <a:t>MEDICAL IMAGE CLASIFICATION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22EE8-11CD-4424-A7C7-7A6035807AE6}"/>
              </a:ext>
            </a:extLst>
          </p:cNvPr>
          <p:cNvSpPr txBox="1"/>
          <p:nvPr/>
        </p:nvSpPr>
        <p:spPr>
          <a:xfrm>
            <a:off x="0" y="1096387"/>
            <a:ext cx="1504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LUNG INFILTRATION</a:t>
            </a:r>
            <a:endParaRPr lang="es-ES" sz="1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287825-3235-482B-81CD-BAAB65FAF025}"/>
              </a:ext>
            </a:extLst>
          </p:cNvPr>
          <p:cNvSpPr txBox="1"/>
          <p:nvPr/>
        </p:nvSpPr>
        <p:spPr>
          <a:xfrm>
            <a:off x="3913956" y="8242221"/>
            <a:ext cx="7438318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Índice</a:t>
            </a: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Objetivo del Proyecto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Origen de Datos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EDA: Limpieza y Desafíos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Pipeline de Desarrollo: Flujo de Proceso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Escalabilidad y Futuro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Conclusiones y Beneficios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ES" dirty="0"/>
          </a:p>
        </p:txBody>
      </p:sp>
      <p:pic>
        <p:nvPicPr>
          <p:cNvPr id="31" name="Gráfico 30" descr="Lista con relleno sólido">
            <a:extLst>
              <a:ext uri="{FF2B5EF4-FFF2-40B4-BE49-F238E27FC236}">
                <a16:creationId xmlns:a16="http://schemas.microsoft.com/office/drawing/2014/main" id="{2FDEFCEA-F664-4CB6-B59B-99B723EF5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7997710"/>
            <a:ext cx="3997828" cy="4305449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A35904-CFD3-4D56-BB6C-1F6369D730CA}"/>
              </a:ext>
            </a:extLst>
          </p:cNvPr>
          <p:cNvSpPr txBox="1"/>
          <p:nvPr/>
        </p:nvSpPr>
        <p:spPr>
          <a:xfrm>
            <a:off x="143643" y="14004065"/>
            <a:ext cx="53618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Objetivo</a:t>
            </a: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Desarrollar una herramienta de apoyo al diagnóstico médico que combine Visión Artificial (Deep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Procesamiento de Lenguaje Natural (LLM). </a:t>
            </a:r>
          </a:p>
          <a:p>
            <a:pPr algn="just"/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El sistema busca identificar signos de infiltración pulmonar en radiografías de tórax y proporcionar una explicación humanizada y recomendaciones preventivas inmediatas.</a:t>
            </a:r>
          </a:p>
        </p:txBody>
      </p:sp>
      <p:pic>
        <p:nvPicPr>
          <p:cNvPr id="34" name="Gráfico 33" descr="Aula de clases con relleno sólido">
            <a:extLst>
              <a:ext uri="{FF2B5EF4-FFF2-40B4-BE49-F238E27FC236}">
                <a16:creationId xmlns:a16="http://schemas.microsoft.com/office/drawing/2014/main" id="{52894022-1368-4776-A768-14AE523E4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3369" y="12547670"/>
            <a:ext cx="1467058" cy="1467058"/>
          </a:xfrm>
          <a:prstGeom prst="rect">
            <a:avLst/>
          </a:prstGeom>
        </p:spPr>
      </p:pic>
      <p:pic>
        <p:nvPicPr>
          <p:cNvPr id="37" name="Gráfico 36" descr="Presentación con gráfico de barras con relleno sólido">
            <a:extLst>
              <a:ext uri="{FF2B5EF4-FFF2-40B4-BE49-F238E27FC236}">
                <a16:creationId xmlns:a16="http://schemas.microsoft.com/office/drawing/2014/main" id="{069AA132-BAE6-4FCF-B3C0-31724F6C0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4155" y="12547670"/>
            <a:ext cx="1467058" cy="146705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BE2D613-DE53-439F-93A1-18A1807F52C2}"/>
              </a:ext>
            </a:extLst>
          </p:cNvPr>
          <p:cNvSpPr txBox="1"/>
          <p:nvPr/>
        </p:nvSpPr>
        <p:spPr>
          <a:xfrm>
            <a:off x="6442465" y="14014728"/>
            <a:ext cx="532187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Origen: Basado en el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 de radiografías de tórax (NIH/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Kaggle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enfoque en la patología de "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Infiltration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".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Características: Imágenes médicas en escala de grises, etiquetadas originalmente en formato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multietiqueta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, filtradas para un entrenamiento binario (Sano vs. Infiltración).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Volumen: Procesamiento de muestras balanceadas para evitar sesgos en la detección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073D6C3F-10C6-4519-BE7D-8110C88400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643" y="17853365"/>
            <a:ext cx="5717040" cy="578762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2680DC18-5017-4531-9C19-6E5BE6DA8E7D}"/>
              </a:ext>
            </a:extLst>
          </p:cNvPr>
          <p:cNvSpPr txBox="1"/>
          <p:nvPr/>
        </p:nvSpPr>
        <p:spPr>
          <a:xfrm>
            <a:off x="6004326" y="17853365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EDA (Análisis Exploratorio y Limpieza)</a:t>
            </a: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Durante esta fase, se detectaron desafíos críticos: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Desequilibrio de clases: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Mucha más presencia de casos sanos que con patología.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Ruido en las etiquetas: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Superposición de patologías (pacientes con infiltración y efusión simultánea).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Limpieza: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Se eliminaron registros con datos faltantes en el CSV y se normalizaron las rutas de las imágenes para el generador de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813450EC-6877-4C55-AADA-7529C471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674" y="29984700"/>
            <a:ext cx="12192000" cy="299847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407D1AED-0689-41E2-BAF4-30ED45167B36}"/>
              </a:ext>
            </a:extLst>
          </p:cNvPr>
          <p:cNvSpPr txBox="1"/>
          <p:nvPr/>
        </p:nvSpPr>
        <p:spPr>
          <a:xfrm>
            <a:off x="91674" y="23950521"/>
            <a:ext cx="57600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Extracción y Clasificación (CNN + Transfer 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utiliza una arquitectura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ResNet50/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MobileNet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preentrenada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ImageNet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aplicó </a:t>
            </a:r>
            <a:r>
              <a:rPr lang="es-ES" sz="2000" i="1" dirty="0">
                <a:solidFill>
                  <a:schemeClr val="bg1"/>
                </a:solidFill>
                <a:latin typeface="Eras Bold ITC" panose="020B0907030504020204" pitchFamily="34" charset="0"/>
              </a:rPr>
              <a:t>Fine-</a:t>
            </a:r>
            <a:r>
              <a:rPr lang="es-ES" sz="2000" i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Tuning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para adaptar las últimas capas a la morfología de una radiografía pulmonar.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Tecnología: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/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Keras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8CB3FE3C-CE32-45D6-96A1-DA3A7D150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74" y="27122378"/>
            <a:ext cx="5833257" cy="4141921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6122F666-F139-4F54-B11A-E2D49FB665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45963"/>
          <a:stretch/>
        </p:blipFill>
        <p:spPr>
          <a:xfrm>
            <a:off x="6442464" y="23640985"/>
            <a:ext cx="5321875" cy="3171857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76B86837-7509-4918-9FEB-80CE4595E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2465" y="27122378"/>
            <a:ext cx="5321875" cy="4141921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D000133-B824-41EE-80D5-BA200CB82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674" y="31573834"/>
            <a:ext cx="5833256" cy="560657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A5EC2D12-6300-41EC-8762-B0A84FD638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2465" y="31579480"/>
            <a:ext cx="5321874" cy="5600929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D486D189-03C7-47EA-8711-EF26B7409B80}"/>
              </a:ext>
            </a:extLst>
          </p:cNvPr>
          <p:cNvSpPr txBox="1"/>
          <p:nvPr/>
        </p:nvSpPr>
        <p:spPr>
          <a:xfrm>
            <a:off x="46891" y="37642036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Capa Interpretativa (LLM)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El resultado numérico de la CNN se envía 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GPT-3.5/4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mediante un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prompt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estructurado para traducir un dato técnico en un informe comprensible.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A diferencia de un modelo estándar, se implementó un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umbral del 30%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Si la probabilidad de infiltración supera este margen, el sistema prioriza la seguridad del paciente y activa la alerta médica.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Usuario carga imagen →  CNN predice % →  Lógica evalúa si % &gt; 30 →  LLM redacta informe → 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Gradio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muestra resultados.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CB805671-D88E-4467-A37A-F03338C85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2464" y="37495590"/>
            <a:ext cx="5321874" cy="477001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4C942D0D-E811-4D7D-8C08-4326CB6E4A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2464" y="42580781"/>
            <a:ext cx="5313660" cy="477001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273C8029-D57C-43D6-ABB3-6683AEDAAF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674" y="42580782"/>
            <a:ext cx="5912652" cy="4770010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1592F6F1-195B-4176-87EC-6D87C6E94B37}"/>
              </a:ext>
            </a:extLst>
          </p:cNvPr>
          <p:cNvSpPr txBox="1"/>
          <p:nvPr/>
        </p:nvSpPr>
        <p:spPr>
          <a:xfrm>
            <a:off x="5806905" y="47685598"/>
            <a:ext cx="608103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Mejoras a Futuro</a:t>
            </a:r>
          </a:p>
          <a:p>
            <a:pPr algn="just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Escalabilidad: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Migrar el modelo a la nube (AWS/GCP) para procesar cientos de imágenes en paralelo.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Soporte 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Multipatología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Entrenar la CNN para detectar neumonía, nódulos y neumotórax simultáneamente.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Mapa de Calor (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-CAM):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Añadir una visualización que marque </a:t>
            </a:r>
            <a:r>
              <a:rPr lang="es-ES" sz="2400" i="1" dirty="0">
                <a:solidFill>
                  <a:schemeClr val="bg1"/>
                </a:solidFill>
                <a:latin typeface="Eras Bold ITC" panose="020B0907030504020204" pitchFamily="34" charset="0"/>
              </a:rPr>
              <a:t>exactamente dónde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 el pulmón la CNN está viendo la infiltración.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7" name="Gráfico 66" descr="Tendencia al alza con relleno sólido">
            <a:extLst>
              <a:ext uri="{FF2B5EF4-FFF2-40B4-BE49-F238E27FC236}">
                <a16:creationId xmlns:a16="http://schemas.microsoft.com/office/drawing/2014/main" id="{2F1BDB28-F50A-47BC-B8DD-20F5C44C42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1" y="47661850"/>
            <a:ext cx="5505501" cy="5388838"/>
          </a:xfrm>
          <a:prstGeom prst="rect">
            <a:avLst/>
          </a:prstGeom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E644F6C1-DD08-45B2-BBBF-F1321F53733D}"/>
              </a:ext>
            </a:extLst>
          </p:cNvPr>
          <p:cNvSpPr txBox="1"/>
          <p:nvPr/>
        </p:nvSpPr>
        <p:spPr>
          <a:xfrm>
            <a:off x="-91674" y="55908336"/>
            <a:ext cx="113642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solidFill>
                  <a:schemeClr val="bg1"/>
                </a:solidFill>
                <a:latin typeface="Eras Bold ITC" panose="020B0907030504020204" pitchFamily="34" charset="0"/>
              </a:rPr>
              <a:t>Conclusiones</a:t>
            </a:r>
          </a:p>
          <a:p>
            <a:endParaRPr lang="es-ES" sz="72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74" name="Gráfico 73" descr="Internet con relleno sólido">
            <a:extLst>
              <a:ext uri="{FF2B5EF4-FFF2-40B4-BE49-F238E27FC236}">
                <a16:creationId xmlns:a16="http://schemas.microsoft.com/office/drawing/2014/main" id="{733F9B57-BB69-49E8-BD86-06CE8D24E19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190809" y="55585678"/>
            <a:ext cx="2161465" cy="216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087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B7054A1-91CE-40AB-9AA6-33568938A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91199"/>
            <a:ext cx="12192000" cy="2998470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B3297F58-E0E7-4CAF-B694-670AE8627513}"/>
              </a:ext>
            </a:extLst>
          </p:cNvPr>
          <p:cNvSpPr txBox="1"/>
          <p:nvPr/>
        </p:nvSpPr>
        <p:spPr>
          <a:xfrm>
            <a:off x="91674" y="-5648919"/>
            <a:ext cx="12620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600" dirty="0">
                <a:solidFill>
                  <a:schemeClr val="bg1"/>
                </a:solidFill>
                <a:latin typeface="Eras Bold ITC" panose="020B0907030504020204" pitchFamily="34" charset="0"/>
              </a:rPr>
              <a:t>MEDICAL IMAGE CLASIFICATION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22EE8-11CD-4424-A7C7-7A6035807AE6}"/>
              </a:ext>
            </a:extLst>
          </p:cNvPr>
          <p:cNvSpPr txBox="1"/>
          <p:nvPr/>
        </p:nvSpPr>
        <p:spPr>
          <a:xfrm>
            <a:off x="91674" y="-4694812"/>
            <a:ext cx="1504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LUNG INFILTRATION</a:t>
            </a:r>
            <a:endParaRPr lang="es-ES" sz="1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287825-3235-482B-81CD-BAAB65FAF025}"/>
              </a:ext>
            </a:extLst>
          </p:cNvPr>
          <p:cNvSpPr txBox="1"/>
          <p:nvPr/>
        </p:nvSpPr>
        <p:spPr>
          <a:xfrm>
            <a:off x="4005630" y="1816673"/>
            <a:ext cx="7438318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Índice</a:t>
            </a: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Objetivo del Proyecto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Origen de Datos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EDA: Limpieza y Desafíos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Pipeline de Desarrollo: Flujo de Proceso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Escalabilidad y Futuro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Conclusiones y Beneficios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ES" dirty="0"/>
          </a:p>
        </p:txBody>
      </p:sp>
      <p:pic>
        <p:nvPicPr>
          <p:cNvPr id="31" name="Gráfico 30" descr="Lista con relleno sólido">
            <a:extLst>
              <a:ext uri="{FF2B5EF4-FFF2-40B4-BE49-F238E27FC236}">
                <a16:creationId xmlns:a16="http://schemas.microsoft.com/office/drawing/2014/main" id="{2FDEFCEA-F664-4CB6-B59B-99B723EF5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73" y="1167264"/>
            <a:ext cx="3997828" cy="4305449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A35904-CFD3-4D56-BB6C-1F6369D730CA}"/>
              </a:ext>
            </a:extLst>
          </p:cNvPr>
          <p:cNvSpPr txBox="1"/>
          <p:nvPr/>
        </p:nvSpPr>
        <p:spPr>
          <a:xfrm>
            <a:off x="235317" y="8212866"/>
            <a:ext cx="53618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Objetivo</a:t>
            </a: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Desarrollar una herramienta de apoyo al diagnóstico médico que combine Visión Artificial (Deep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Procesamiento de Lenguaje Natural (LLM). </a:t>
            </a:r>
          </a:p>
          <a:p>
            <a:pPr algn="just"/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El sistema busca identificar signos de infiltración pulmonar en radiografías de tórax y proporcionar una explicación humanizada y recomendaciones preventivas inmediatas.</a:t>
            </a:r>
          </a:p>
        </p:txBody>
      </p:sp>
      <p:pic>
        <p:nvPicPr>
          <p:cNvPr id="34" name="Gráfico 33" descr="Aula de clases con relleno sólido">
            <a:extLst>
              <a:ext uri="{FF2B5EF4-FFF2-40B4-BE49-F238E27FC236}">
                <a16:creationId xmlns:a16="http://schemas.microsoft.com/office/drawing/2014/main" id="{52894022-1368-4776-A768-14AE523E4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5043" y="6756471"/>
            <a:ext cx="1467058" cy="1467058"/>
          </a:xfrm>
          <a:prstGeom prst="rect">
            <a:avLst/>
          </a:prstGeom>
        </p:spPr>
      </p:pic>
      <p:pic>
        <p:nvPicPr>
          <p:cNvPr id="37" name="Gráfico 36" descr="Presentación con gráfico de barras con relleno sólido">
            <a:extLst>
              <a:ext uri="{FF2B5EF4-FFF2-40B4-BE49-F238E27FC236}">
                <a16:creationId xmlns:a16="http://schemas.microsoft.com/office/drawing/2014/main" id="{069AA132-BAE6-4FCF-B3C0-31724F6C0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5829" y="6756471"/>
            <a:ext cx="1467058" cy="146705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BE2D613-DE53-439F-93A1-18A1807F52C2}"/>
              </a:ext>
            </a:extLst>
          </p:cNvPr>
          <p:cNvSpPr txBox="1"/>
          <p:nvPr/>
        </p:nvSpPr>
        <p:spPr>
          <a:xfrm>
            <a:off x="6534139" y="8223529"/>
            <a:ext cx="532187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Origen: Basado en el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 de radiografías de tórax (NIH/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Kaggle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enfoque en la patología de "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Infiltration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".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Características: Imágenes médicas en escala de grises, etiquetadas originalmente en formato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multietiqueta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, filtradas para un entrenamiento binario (Sano vs. Infiltración).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Volumen: Procesamiento de muestras balanceadas para evitar sesgos en la detección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073D6C3F-10C6-4519-BE7D-8110C88400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317" y="12062166"/>
            <a:ext cx="5717040" cy="578762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2680DC18-5017-4531-9C19-6E5BE6DA8E7D}"/>
              </a:ext>
            </a:extLst>
          </p:cNvPr>
          <p:cNvSpPr txBox="1"/>
          <p:nvPr/>
        </p:nvSpPr>
        <p:spPr>
          <a:xfrm>
            <a:off x="6096000" y="12062166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EDA (Análisis Exploratorio y Limpieza)</a:t>
            </a: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Durante esta fase, se detectaron desafíos críticos: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Desequilibrio de clases: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Mucha más presencia de casos sanos que con patología.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Ruido en las etiquetas: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Superposición de patologías (pacientes con infiltración y efusión simultánea).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Limpieza: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Se eliminaron registros con datos faltantes en el CSV y se normalizaron las rutas de las imágenes para el generador de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813450EC-6877-4C55-AADA-7529C471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3501"/>
            <a:ext cx="12192000" cy="299847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407D1AED-0689-41E2-BAF4-30ED45167B36}"/>
              </a:ext>
            </a:extLst>
          </p:cNvPr>
          <p:cNvSpPr txBox="1"/>
          <p:nvPr/>
        </p:nvSpPr>
        <p:spPr>
          <a:xfrm>
            <a:off x="183348" y="18159322"/>
            <a:ext cx="57600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Extracción y Clasificación (CNN + Transfer 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utiliza una arquitectura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ResNet50/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MobileNet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preentrenada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ImageNet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aplicó </a:t>
            </a:r>
            <a:r>
              <a:rPr lang="es-ES" sz="2000" i="1" dirty="0">
                <a:solidFill>
                  <a:schemeClr val="bg1"/>
                </a:solidFill>
                <a:latin typeface="Eras Bold ITC" panose="020B0907030504020204" pitchFamily="34" charset="0"/>
              </a:rPr>
              <a:t>Fine-</a:t>
            </a:r>
            <a:r>
              <a:rPr lang="es-ES" sz="2000" i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Tuning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para adaptar las últimas capas a la morfología de una radiografía pulmonar.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Tecnología: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/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Keras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8CB3FE3C-CE32-45D6-96A1-DA3A7D150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348" y="21331179"/>
            <a:ext cx="5833257" cy="4141921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6122F666-F139-4F54-B11A-E2D49FB665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45963"/>
          <a:stretch/>
        </p:blipFill>
        <p:spPr>
          <a:xfrm>
            <a:off x="6534138" y="17849786"/>
            <a:ext cx="5321875" cy="3171857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76B86837-7509-4918-9FEB-80CE4595E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139" y="21331179"/>
            <a:ext cx="5321875" cy="4141921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D000133-B824-41EE-80D5-BA200CB82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348" y="25782635"/>
            <a:ext cx="5833256" cy="560657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A5EC2D12-6300-41EC-8762-B0A84FD638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39" y="25788281"/>
            <a:ext cx="5321874" cy="5600929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D486D189-03C7-47EA-8711-EF26B7409B80}"/>
              </a:ext>
            </a:extLst>
          </p:cNvPr>
          <p:cNvSpPr txBox="1"/>
          <p:nvPr/>
        </p:nvSpPr>
        <p:spPr>
          <a:xfrm>
            <a:off x="138565" y="31850837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Capa Interpretativa (LLM)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El resultado numérico de la CNN se envía 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GPT-3.5/4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mediante un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prompt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estructurado para traducir un dato técnico en un informe comprensible.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A diferencia de un modelo estándar, se implementó un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umbral del 30%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Si la probabilidad de infiltración supera este margen, el sistema prioriza la seguridad del paciente y activa la alerta médica.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Usuario carga imagen →  CNN predice % →  Lógica evalúa si % &gt; 30 →  LLM redacta informe → 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Gradio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muestra resultados.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CB805671-D88E-4467-A37A-F03338C85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4138" y="31704391"/>
            <a:ext cx="5321874" cy="477001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4C942D0D-E811-4D7D-8C08-4326CB6E4A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4138" y="36789582"/>
            <a:ext cx="5313660" cy="477001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273C8029-D57C-43D6-ABB3-6683AEDAAF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3348" y="36789583"/>
            <a:ext cx="5912652" cy="4770010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1592F6F1-195B-4176-87EC-6D87C6E94B37}"/>
              </a:ext>
            </a:extLst>
          </p:cNvPr>
          <p:cNvSpPr txBox="1"/>
          <p:nvPr/>
        </p:nvSpPr>
        <p:spPr>
          <a:xfrm>
            <a:off x="5898579" y="41894399"/>
            <a:ext cx="608103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Mejoras a Futuro</a:t>
            </a:r>
          </a:p>
          <a:p>
            <a:pPr algn="just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Escalabilidad: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Migrar el modelo a la nube (AWS/GCP) para procesar cientos de imágenes en paralelo.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Soporte 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Multipatología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Entrenar la CNN para detectar neumonía, nódulos y neumotórax simultáneamente.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Mapa de Calor (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-CAM):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Añadir una visualización que marque </a:t>
            </a:r>
            <a:r>
              <a:rPr lang="es-ES" sz="2400" i="1" dirty="0">
                <a:solidFill>
                  <a:schemeClr val="bg1"/>
                </a:solidFill>
                <a:latin typeface="Eras Bold ITC" panose="020B0907030504020204" pitchFamily="34" charset="0"/>
              </a:rPr>
              <a:t>exactamente dónde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 el pulmón la CNN está viendo la infiltración.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7" name="Gráfico 66" descr="Tendencia al alza con relleno sólido">
            <a:extLst>
              <a:ext uri="{FF2B5EF4-FFF2-40B4-BE49-F238E27FC236}">
                <a16:creationId xmlns:a16="http://schemas.microsoft.com/office/drawing/2014/main" id="{2F1BDB28-F50A-47BC-B8DD-20F5C44C42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673" y="41870651"/>
            <a:ext cx="5505501" cy="5388838"/>
          </a:xfrm>
          <a:prstGeom prst="rect">
            <a:avLst/>
          </a:prstGeom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E644F6C1-DD08-45B2-BBBF-F1321F53733D}"/>
              </a:ext>
            </a:extLst>
          </p:cNvPr>
          <p:cNvSpPr txBox="1"/>
          <p:nvPr/>
        </p:nvSpPr>
        <p:spPr>
          <a:xfrm>
            <a:off x="0" y="50117137"/>
            <a:ext cx="113642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solidFill>
                  <a:schemeClr val="bg1"/>
                </a:solidFill>
                <a:latin typeface="Eras Bold ITC" panose="020B0907030504020204" pitchFamily="34" charset="0"/>
              </a:rPr>
              <a:t>Conclusiones</a:t>
            </a:r>
          </a:p>
          <a:p>
            <a:endParaRPr lang="es-ES" sz="72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74" name="Gráfico 73" descr="Internet con relleno sólido">
            <a:extLst>
              <a:ext uri="{FF2B5EF4-FFF2-40B4-BE49-F238E27FC236}">
                <a16:creationId xmlns:a16="http://schemas.microsoft.com/office/drawing/2014/main" id="{733F9B57-BB69-49E8-BD86-06CE8D24E19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82483" y="49794479"/>
            <a:ext cx="2161465" cy="216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4373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B7054A1-91CE-40AB-9AA6-33568938A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176000"/>
            <a:ext cx="12192000" cy="2998470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B3297F58-E0E7-4CAF-B694-670AE8627513}"/>
              </a:ext>
            </a:extLst>
          </p:cNvPr>
          <p:cNvSpPr txBox="1"/>
          <p:nvPr/>
        </p:nvSpPr>
        <p:spPr>
          <a:xfrm>
            <a:off x="91674" y="-11033720"/>
            <a:ext cx="12620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600" dirty="0">
                <a:solidFill>
                  <a:schemeClr val="bg1"/>
                </a:solidFill>
                <a:latin typeface="Eras Bold ITC" panose="020B0907030504020204" pitchFamily="34" charset="0"/>
              </a:rPr>
              <a:t>MEDICAL IMAGE CLASIFICATION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22EE8-11CD-4424-A7C7-7A6035807AE6}"/>
              </a:ext>
            </a:extLst>
          </p:cNvPr>
          <p:cNvSpPr txBox="1"/>
          <p:nvPr/>
        </p:nvSpPr>
        <p:spPr>
          <a:xfrm>
            <a:off x="91674" y="-10079613"/>
            <a:ext cx="1504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LUNG INFILTRATION</a:t>
            </a:r>
            <a:endParaRPr lang="es-ES" sz="1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287825-3235-482B-81CD-BAAB65FAF025}"/>
              </a:ext>
            </a:extLst>
          </p:cNvPr>
          <p:cNvSpPr txBox="1"/>
          <p:nvPr/>
        </p:nvSpPr>
        <p:spPr>
          <a:xfrm>
            <a:off x="3752101" y="-4967415"/>
            <a:ext cx="7438318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Índice</a:t>
            </a: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Objetivo del Proyecto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Origen de Datos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EDA: Limpieza y Desafíos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Pipeline de Desarrollo: Flujo de Proceso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Escalabilidad y Futuro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Conclusiones y Beneficios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ES" dirty="0"/>
          </a:p>
        </p:txBody>
      </p:sp>
      <p:pic>
        <p:nvPicPr>
          <p:cNvPr id="31" name="Gráfico 30" descr="Lista con relleno sólido">
            <a:extLst>
              <a:ext uri="{FF2B5EF4-FFF2-40B4-BE49-F238E27FC236}">
                <a16:creationId xmlns:a16="http://schemas.microsoft.com/office/drawing/2014/main" id="{2FDEFCEA-F664-4CB6-B59B-99B723EF5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5140867"/>
            <a:ext cx="3997828" cy="4305449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A35904-CFD3-4D56-BB6C-1F6369D730CA}"/>
              </a:ext>
            </a:extLst>
          </p:cNvPr>
          <p:cNvSpPr txBox="1"/>
          <p:nvPr/>
        </p:nvSpPr>
        <p:spPr>
          <a:xfrm>
            <a:off x="235317" y="2049596"/>
            <a:ext cx="536185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Objetivo</a:t>
            </a:r>
          </a:p>
          <a:p>
            <a:pPr algn="ctr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Desarrollar una herramienta de apoyo al diagnóstico médico que combine Visión Artificial (Deep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Procesamiento de Lenguaje Natural (LLM). </a:t>
            </a:r>
          </a:p>
          <a:p>
            <a:pPr algn="just"/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El sistema busca identificar signos de infiltración pulmonar en radiografías de tórax y proporcionar una explicación humanizada y recomendaciones preventivas inmediatas.</a:t>
            </a:r>
          </a:p>
        </p:txBody>
      </p:sp>
      <p:pic>
        <p:nvPicPr>
          <p:cNvPr id="34" name="Gráfico 33" descr="Aula de clases con relleno sólido">
            <a:extLst>
              <a:ext uri="{FF2B5EF4-FFF2-40B4-BE49-F238E27FC236}">
                <a16:creationId xmlns:a16="http://schemas.microsoft.com/office/drawing/2014/main" id="{52894022-1368-4776-A768-14AE523E4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5043" y="503341"/>
            <a:ext cx="1467058" cy="1467058"/>
          </a:xfrm>
          <a:prstGeom prst="rect">
            <a:avLst/>
          </a:prstGeom>
        </p:spPr>
      </p:pic>
      <p:pic>
        <p:nvPicPr>
          <p:cNvPr id="37" name="Gráfico 36" descr="Presentación con gráfico de barras con relleno sólido">
            <a:extLst>
              <a:ext uri="{FF2B5EF4-FFF2-40B4-BE49-F238E27FC236}">
                <a16:creationId xmlns:a16="http://schemas.microsoft.com/office/drawing/2014/main" id="{069AA132-BAE6-4FCF-B3C0-31724F6C0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57439" y="503341"/>
            <a:ext cx="1467058" cy="146705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BE2D613-DE53-439F-93A1-18A1807F52C2}"/>
              </a:ext>
            </a:extLst>
          </p:cNvPr>
          <p:cNvSpPr txBox="1"/>
          <p:nvPr/>
        </p:nvSpPr>
        <p:spPr>
          <a:xfrm>
            <a:off x="6328229" y="2062023"/>
            <a:ext cx="5588473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ctr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Origen: Basado en el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 de radiografías de tórax (NIH/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Kaggle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enfoque en la patología de "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Infiltration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".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Características: Imágenes médicas en escala de grises, etiquetadas originalmente en formato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multietiqueta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, filtradas para un entrenamiento binario (Sano vs. Infiltración).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Volumen: Procesamiento de muestras balanceadas para evitar sesgos en la detección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073D6C3F-10C6-4519-BE7D-8110C88400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539" y="7470599"/>
            <a:ext cx="5717040" cy="578762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2680DC18-5017-4531-9C19-6E5BE6DA8E7D}"/>
              </a:ext>
            </a:extLst>
          </p:cNvPr>
          <p:cNvSpPr txBox="1"/>
          <p:nvPr/>
        </p:nvSpPr>
        <p:spPr>
          <a:xfrm>
            <a:off x="6096000" y="7734349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EDA (Análisis Exploratorio y Limpieza)</a:t>
            </a: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Durante esta fase, se detectaron desafíos críticos: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Desequilibrio de clases: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Mucha más presencia de casos sanos que con patología.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Ruido en las etiquetas: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Superposición de patologías (pacientes con infiltración y efusión simultánea).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Limpieza: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Se eliminaron registros con datos faltantes en el CSV y se normalizaron las rutas de las imágenes para el generador de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813450EC-6877-4C55-AADA-7529C471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08700"/>
            <a:ext cx="12192000" cy="299847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407D1AED-0689-41E2-BAF4-30ED45167B36}"/>
              </a:ext>
            </a:extLst>
          </p:cNvPr>
          <p:cNvSpPr txBox="1"/>
          <p:nvPr/>
        </p:nvSpPr>
        <p:spPr>
          <a:xfrm>
            <a:off x="183348" y="12774521"/>
            <a:ext cx="57600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Extracción y Clasificación (CNN + Transfer 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utiliza una arquitectura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ResNet50/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MobileNet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preentrenada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ImageNet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aplicó </a:t>
            </a:r>
            <a:r>
              <a:rPr lang="es-ES" sz="2000" i="1" dirty="0">
                <a:solidFill>
                  <a:schemeClr val="bg1"/>
                </a:solidFill>
                <a:latin typeface="Eras Bold ITC" panose="020B0907030504020204" pitchFamily="34" charset="0"/>
              </a:rPr>
              <a:t>Fine-</a:t>
            </a:r>
            <a:r>
              <a:rPr lang="es-ES" sz="2000" i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Tuning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para adaptar las últimas capas a la morfología de una radiografía pulmonar.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Tecnología: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/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Keras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8CB3FE3C-CE32-45D6-96A1-DA3A7D150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348" y="15946378"/>
            <a:ext cx="5833257" cy="4141921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6122F666-F139-4F54-B11A-E2D49FB665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45963"/>
          <a:stretch/>
        </p:blipFill>
        <p:spPr>
          <a:xfrm>
            <a:off x="6534138" y="12464985"/>
            <a:ext cx="5321875" cy="3171857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76B86837-7509-4918-9FEB-80CE4595E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139" y="15946378"/>
            <a:ext cx="5321875" cy="4141921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D000133-B824-41EE-80D5-BA200CB82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348" y="20397834"/>
            <a:ext cx="5833256" cy="560657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A5EC2D12-6300-41EC-8762-B0A84FD638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39" y="20403480"/>
            <a:ext cx="5321874" cy="5600929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D486D189-03C7-47EA-8711-EF26B7409B80}"/>
              </a:ext>
            </a:extLst>
          </p:cNvPr>
          <p:cNvSpPr txBox="1"/>
          <p:nvPr/>
        </p:nvSpPr>
        <p:spPr>
          <a:xfrm>
            <a:off x="138565" y="26466036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Capa Interpretativa (LLM)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El resultado numérico de la CNN se envía 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GPT-3.5/4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mediante un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prompt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estructurado para traducir un dato técnico en un informe comprensible.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A diferencia de un modelo estándar, se implementó un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umbral del 30%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Si la probabilidad de infiltración supera este margen, el sistema prioriza la seguridad del paciente y activa la alerta médica.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Usuario carga imagen →  CNN predice % →  Lógica evalúa si % &gt; 30 →  LLM redacta informe → 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Gradio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muestra resultados.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CB805671-D88E-4467-A37A-F03338C85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4138" y="26319590"/>
            <a:ext cx="5321874" cy="477001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4C942D0D-E811-4D7D-8C08-4326CB6E4A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4138" y="31404781"/>
            <a:ext cx="5313660" cy="477001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273C8029-D57C-43D6-ABB3-6683AEDAAF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3348" y="31404782"/>
            <a:ext cx="5912652" cy="4770010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1592F6F1-195B-4176-87EC-6D87C6E94B37}"/>
              </a:ext>
            </a:extLst>
          </p:cNvPr>
          <p:cNvSpPr txBox="1"/>
          <p:nvPr/>
        </p:nvSpPr>
        <p:spPr>
          <a:xfrm>
            <a:off x="5898579" y="36509598"/>
            <a:ext cx="608103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Mejoras a Futuro</a:t>
            </a:r>
          </a:p>
          <a:p>
            <a:pPr algn="just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Escalabilidad: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Migrar el modelo a la nube (AWS/GCP) para procesar cientos de imágenes en paralelo.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Soporte 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Multipatología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Entrenar la CNN para detectar neumonía, nódulos y neumotórax simultáneamente.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Mapa de Calor (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-CAM):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Añadir una visualización que marque </a:t>
            </a:r>
            <a:r>
              <a:rPr lang="es-ES" sz="2400" i="1" dirty="0">
                <a:solidFill>
                  <a:schemeClr val="bg1"/>
                </a:solidFill>
                <a:latin typeface="Eras Bold ITC" panose="020B0907030504020204" pitchFamily="34" charset="0"/>
              </a:rPr>
              <a:t>exactamente dónde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 el pulmón la CNN está viendo la infiltración.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7" name="Gráfico 66" descr="Tendencia al alza con relleno sólido">
            <a:extLst>
              <a:ext uri="{FF2B5EF4-FFF2-40B4-BE49-F238E27FC236}">
                <a16:creationId xmlns:a16="http://schemas.microsoft.com/office/drawing/2014/main" id="{2F1BDB28-F50A-47BC-B8DD-20F5C44C42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673" y="36485850"/>
            <a:ext cx="5505501" cy="5388838"/>
          </a:xfrm>
          <a:prstGeom prst="rect">
            <a:avLst/>
          </a:prstGeom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E644F6C1-DD08-45B2-BBBF-F1321F53733D}"/>
              </a:ext>
            </a:extLst>
          </p:cNvPr>
          <p:cNvSpPr txBox="1"/>
          <p:nvPr/>
        </p:nvSpPr>
        <p:spPr>
          <a:xfrm>
            <a:off x="0" y="44732336"/>
            <a:ext cx="113642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solidFill>
                  <a:schemeClr val="bg1"/>
                </a:solidFill>
                <a:latin typeface="Eras Bold ITC" panose="020B0907030504020204" pitchFamily="34" charset="0"/>
              </a:rPr>
              <a:t>Conclusiones</a:t>
            </a:r>
          </a:p>
          <a:p>
            <a:endParaRPr lang="es-ES" sz="72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74" name="Gráfico 73" descr="Internet con relleno sólido">
            <a:extLst>
              <a:ext uri="{FF2B5EF4-FFF2-40B4-BE49-F238E27FC236}">
                <a16:creationId xmlns:a16="http://schemas.microsoft.com/office/drawing/2014/main" id="{733F9B57-BB69-49E8-BD86-06CE8D24E19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82483" y="44409678"/>
            <a:ext cx="2161465" cy="216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70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B7054A1-91CE-40AB-9AA6-33568938A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373600"/>
            <a:ext cx="12192000" cy="2998470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B3297F58-E0E7-4CAF-B694-670AE8627513}"/>
              </a:ext>
            </a:extLst>
          </p:cNvPr>
          <p:cNvSpPr txBox="1"/>
          <p:nvPr/>
        </p:nvSpPr>
        <p:spPr>
          <a:xfrm>
            <a:off x="91674" y="-17231320"/>
            <a:ext cx="12620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600" dirty="0">
                <a:solidFill>
                  <a:schemeClr val="bg1"/>
                </a:solidFill>
                <a:latin typeface="Eras Bold ITC" panose="020B0907030504020204" pitchFamily="34" charset="0"/>
              </a:rPr>
              <a:t>MEDICAL IMAGE CLASIFICATION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22EE8-11CD-4424-A7C7-7A6035807AE6}"/>
              </a:ext>
            </a:extLst>
          </p:cNvPr>
          <p:cNvSpPr txBox="1"/>
          <p:nvPr/>
        </p:nvSpPr>
        <p:spPr>
          <a:xfrm>
            <a:off x="91674" y="-16277213"/>
            <a:ext cx="1504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LUNG INFILTRATION</a:t>
            </a:r>
            <a:endParaRPr lang="es-ES" sz="1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287825-3235-482B-81CD-BAAB65FAF025}"/>
              </a:ext>
            </a:extLst>
          </p:cNvPr>
          <p:cNvSpPr txBox="1"/>
          <p:nvPr/>
        </p:nvSpPr>
        <p:spPr>
          <a:xfrm>
            <a:off x="4005630" y="-9131379"/>
            <a:ext cx="7438318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Índice</a:t>
            </a: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Objetivo del Proyecto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Origen de Datos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EDA: Limpieza y Desafíos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Pipeline de Desarrollo: Flujo de Proceso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Escalabilidad y Futuro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Conclusiones y Beneficios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ES" dirty="0"/>
          </a:p>
        </p:txBody>
      </p:sp>
      <p:pic>
        <p:nvPicPr>
          <p:cNvPr id="31" name="Gráfico 30" descr="Lista con relleno sólido">
            <a:extLst>
              <a:ext uri="{FF2B5EF4-FFF2-40B4-BE49-F238E27FC236}">
                <a16:creationId xmlns:a16="http://schemas.microsoft.com/office/drawing/2014/main" id="{2FDEFCEA-F664-4CB6-B59B-99B723EF5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74" y="-9375890"/>
            <a:ext cx="3997828" cy="4305449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A35904-CFD3-4D56-BB6C-1F6369D730CA}"/>
              </a:ext>
            </a:extLst>
          </p:cNvPr>
          <p:cNvSpPr txBox="1"/>
          <p:nvPr/>
        </p:nvSpPr>
        <p:spPr>
          <a:xfrm>
            <a:off x="458745" y="-5808218"/>
            <a:ext cx="53618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Objetivo</a:t>
            </a: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Desarrollar una herramienta de apoyo al diagnóstico médico que combine Visión Artificial (Deep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Procesamiento de Lenguaje Natural (LLM). </a:t>
            </a:r>
          </a:p>
          <a:p>
            <a:pPr algn="just"/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El sistema busca identificar signos de infiltración pulmonar en radiografías de tórax y proporcionar una explicación humanizada y recomendaciones preventivas inmediatas.</a:t>
            </a:r>
          </a:p>
        </p:txBody>
      </p:sp>
      <p:pic>
        <p:nvPicPr>
          <p:cNvPr id="34" name="Gráfico 33" descr="Aula de clases con relleno sólido">
            <a:extLst>
              <a:ext uri="{FF2B5EF4-FFF2-40B4-BE49-F238E27FC236}">
                <a16:creationId xmlns:a16="http://schemas.microsoft.com/office/drawing/2014/main" id="{52894022-1368-4776-A768-14AE523E4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5043" y="-4836593"/>
            <a:ext cx="1467058" cy="1467058"/>
          </a:xfrm>
          <a:prstGeom prst="rect">
            <a:avLst/>
          </a:prstGeom>
        </p:spPr>
      </p:pic>
      <p:pic>
        <p:nvPicPr>
          <p:cNvPr id="37" name="Gráfico 36" descr="Presentación con gráfico de barras con relleno sólido">
            <a:extLst>
              <a:ext uri="{FF2B5EF4-FFF2-40B4-BE49-F238E27FC236}">
                <a16:creationId xmlns:a16="http://schemas.microsoft.com/office/drawing/2014/main" id="{069AA132-BAE6-4FCF-B3C0-31724F6C0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5829" y="-4825930"/>
            <a:ext cx="1467058" cy="146705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BE2D613-DE53-439F-93A1-18A1807F52C2}"/>
              </a:ext>
            </a:extLst>
          </p:cNvPr>
          <p:cNvSpPr txBox="1"/>
          <p:nvPr/>
        </p:nvSpPr>
        <p:spPr>
          <a:xfrm>
            <a:off x="6278160" y="-6165927"/>
            <a:ext cx="532187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Origen: Basado en el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 de radiografías de tórax (NIH/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Kaggle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enfoque en la patología de "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Infiltration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".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Características: Imágenes médicas en escala de grises, etiquetadas originalmente en formato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multietiqueta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, filtradas para un entrenamiento binario (Sano vs. Infiltración).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Volumen: Procesamiento de muestras balanceadas para evitar sesgos en la detección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073D6C3F-10C6-4519-BE7D-8110C88400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317" y="479765"/>
            <a:ext cx="5717040" cy="578762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2680DC18-5017-4531-9C19-6E5BE6DA8E7D}"/>
              </a:ext>
            </a:extLst>
          </p:cNvPr>
          <p:cNvSpPr txBox="1"/>
          <p:nvPr/>
        </p:nvSpPr>
        <p:spPr>
          <a:xfrm>
            <a:off x="6152900" y="364040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EDA (Análisis Exploratorio y Limpieza)</a:t>
            </a: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Durante esta fase, se detectaron desafíos críticos: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Desequilibrio de clases: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Mucha más presencia de casos sanos que con patología.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Ruido en las etiquetas: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Superposición de patologías (pacientes con infiltración y efusión simultánea).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Limpieza: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Se eliminaron registros con datos faltantes en el CSV y se normalizaron las rutas de las imágenes para el generador de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813450EC-6877-4C55-AADA-7529C471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11100"/>
            <a:ext cx="12192000" cy="299847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407D1AED-0689-41E2-BAF4-30ED45167B36}"/>
              </a:ext>
            </a:extLst>
          </p:cNvPr>
          <p:cNvSpPr txBox="1"/>
          <p:nvPr/>
        </p:nvSpPr>
        <p:spPr>
          <a:xfrm>
            <a:off x="0" y="8655315"/>
            <a:ext cx="57600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Extracción y Clasificación (CNN + Transfer 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utiliza una arquitectura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ResNet50/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MobileNet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preentrenada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ImageNet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aplicó </a:t>
            </a:r>
            <a:r>
              <a:rPr lang="es-ES" sz="2000" i="1" dirty="0">
                <a:solidFill>
                  <a:schemeClr val="bg1"/>
                </a:solidFill>
                <a:latin typeface="Eras Bold ITC" panose="020B0907030504020204" pitchFamily="34" charset="0"/>
              </a:rPr>
              <a:t>Fine-</a:t>
            </a:r>
            <a:r>
              <a:rPr lang="es-ES" sz="2000" i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Tuning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para adaptar las últimas capas a la morfología de una radiografía pulmonar.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Tecnología: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/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Keras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8CB3FE3C-CE32-45D6-96A1-DA3A7D150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348" y="9748778"/>
            <a:ext cx="5833257" cy="4141921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6122F666-F139-4F54-B11A-E2D49FB665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45963"/>
          <a:stretch/>
        </p:blipFill>
        <p:spPr>
          <a:xfrm>
            <a:off x="6657742" y="7526521"/>
            <a:ext cx="5321875" cy="3171857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76B86837-7509-4918-9FEB-80CE4595E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139" y="9748778"/>
            <a:ext cx="5321875" cy="4141921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D000133-B824-41EE-80D5-BA200CB82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348" y="14200234"/>
            <a:ext cx="5833256" cy="560657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A5EC2D12-6300-41EC-8762-B0A84FD638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39" y="14205880"/>
            <a:ext cx="5321874" cy="5600929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D486D189-03C7-47EA-8711-EF26B7409B80}"/>
              </a:ext>
            </a:extLst>
          </p:cNvPr>
          <p:cNvSpPr txBox="1"/>
          <p:nvPr/>
        </p:nvSpPr>
        <p:spPr>
          <a:xfrm>
            <a:off x="138565" y="20268436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Capa Interpretativa (LLM)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El resultado numérico de la CNN se envía 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GPT-3.5/4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mediante un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prompt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estructurado para traducir un dato técnico en un informe comprensible.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A diferencia de un modelo estándar, se implementó un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umbral del 30%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Si la probabilidad de infiltración supera este margen, el sistema prioriza la seguridad del paciente y activa la alerta médica.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Usuario carga imagen →  CNN predice % →  Lógica evalúa si % &gt; 30 →  LLM redacta informe → 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Gradio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muestra resultados.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CB805671-D88E-4467-A37A-F03338C85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4138" y="20121990"/>
            <a:ext cx="5321874" cy="477001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4C942D0D-E811-4D7D-8C08-4326CB6E4A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4138" y="25207181"/>
            <a:ext cx="5313660" cy="477001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273C8029-D57C-43D6-ABB3-6683AEDAAF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3348" y="25207182"/>
            <a:ext cx="5912652" cy="4770010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1592F6F1-195B-4176-87EC-6D87C6E94B37}"/>
              </a:ext>
            </a:extLst>
          </p:cNvPr>
          <p:cNvSpPr txBox="1"/>
          <p:nvPr/>
        </p:nvSpPr>
        <p:spPr>
          <a:xfrm>
            <a:off x="5898579" y="30311998"/>
            <a:ext cx="608103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Mejoras a Futuro</a:t>
            </a:r>
          </a:p>
          <a:p>
            <a:pPr algn="just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Escalabilidad: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Migrar el modelo a la nube (AWS/GCP) para procesar cientos de imágenes en paralelo.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Soporte 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Multipatología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Entrenar la CNN para detectar neumonía, nódulos y neumotórax simultáneamente.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Mapa de Calor (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-CAM):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Añadir una visualización que marque </a:t>
            </a:r>
            <a:r>
              <a:rPr lang="es-ES" sz="2400" i="1" dirty="0">
                <a:solidFill>
                  <a:schemeClr val="bg1"/>
                </a:solidFill>
                <a:latin typeface="Eras Bold ITC" panose="020B0907030504020204" pitchFamily="34" charset="0"/>
              </a:rPr>
              <a:t>exactamente dónde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 el pulmón la CNN está viendo la infiltración.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7" name="Gráfico 66" descr="Tendencia al alza con relleno sólido">
            <a:extLst>
              <a:ext uri="{FF2B5EF4-FFF2-40B4-BE49-F238E27FC236}">
                <a16:creationId xmlns:a16="http://schemas.microsoft.com/office/drawing/2014/main" id="{2F1BDB28-F50A-47BC-B8DD-20F5C44C42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673" y="30288250"/>
            <a:ext cx="5505501" cy="5388838"/>
          </a:xfrm>
          <a:prstGeom prst="rect">
            <a:avLst/>
          </a:prstGeom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E644F6C1-DD08-45B2-BBBF-F1321F53733D}"/>
              </a:ext>
            </a:extLst>
          </p:cNvPr>
          <p:cNvSpPr txBox="1"/>
          <p:nvPr/>
        </p:nvSpPr>
        <p:spPr>
          <a:xfrm>
            <a:off x="0" y="38534736"/>
            <a:ext cx="113642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solidFill>
                  <a:schemeClr val="bg1"/>
                </a:solidFill>
                <a:latin typeface="Eras Bold ITC" panose="020B0907030504020204" pitchFamily="34" charset="0"/>
              </a:rPr>
              <a:t>Conclusiones</a:t>
            </a:r>
          </a:p>
          <a:p>
            <a:endParaRPr lang="es-ES" sz="72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74" name="Gráfico 73" descr="Internet con relleno sólido">
            <a:extLst>
              <a:ext uri="{FF2B5EF4-FFF2-40B4-BE49-F238E27FC236}">
                <a16:creationId xmlns:a16="http://schemas.microsoft.com/office/drawing/2014/main" id="{733F9B57-BB69-49E8-BD86-06CE8D24E19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82483" y="38212078"/>
            <a:ext cx="2161465" cy="216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73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B7054A1-91CE-40AB-9AA6-33568938A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846972"/>
            <a:ext cx="12192000" cy="31466972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B3297F58-E0E7-4CAF-B694-670AE8627513}"/>
              </a:ext>
            </a:extLst>
          </p:cNvPr>
          <p:cNvSpPr txBox="1"/>
          <p:nvPr/>
        </p:nvSpPr>
        <p:spPr>
          <a:xfrm>
            <a:off x="91674" y="-23704692"/>
            <a:ext cx="12620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600" dirty="0">
                <a:solidFill>
                  <a:schemeClr val="bg1"/>
                </a:solidFill>
                <a:latin typeface="Eras Bold ITC" panose="020B0907030504020204" pitchFamily="34" charset="0"/>
              </a:rPr>
              <a:t>MEDICAL IMAGE CLASIFICATION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22EE8-11CD-4424-A7C7-7A6035807AE6}"/>
              </a:ext>
            </a:extLst>
          </p:cNvPr>
          <p:cNvSpPr txBox="1"/>
          <p:nvPr/>
        </p:nvSpPr>
        <p:spPr>
          <a:xfrm>
            <a:off x="91674" y="-22750585"/>
            <a:ext cx="1504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LUNG INFILTRATION</a:t>
            </a:r>
            <a:endParaRPr lang="es-ES" sz="1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287825-3235-482B-81CD-BAAB65FAF025}"/>
              </a:ext>
            </a:extLst>
          </p:cNvPr>
          <p:cNvSpPr txBox="1"/>
          <p:nvPr/>
        </p:nvSpPr>
        <p:spPr>
          <a:xfrm>
            <a:off x="4005630" y="-15604751"/>
            <a:ext cx="7438318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Índice</a:t>
            </a: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Objetivo del Proyecto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Origen de Datos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EDA: Limpieza y Desafíos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Pipeline de Desarrollo: Flujo de Proceso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Escalabilidad y Futuro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Conclusiones y Beneficios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ES" dirty="0"/>
          </a:p>
        </p:txBody>
      </p:sp>
      <p:pic>
        <p:nvPicPr>
          <p:cNvPr id="31" name="Gráfico 30" descr="Lista con relleno sólido">
            <a:extLst>
              <a:ext uri="{FF2B5EF4-FFF2-40B4-BE49-F238E27FC236}">
                <a16:creationId xmlns:a16="http://schemas.microsoft.com/office/drawing/2014/main" id="{2FDEFCEA-F664-4CB6-B59B-99B723EF5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74" y="-15849262"/>
            <a:ext cx="3997828" cy="4305449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A35904-CFD3-4D56-BB6C-1F6369D730CA}"/>
              </a:ext>
            </a:extLst>
          </p:cNvPr>
          <p:cNvSpPr txBox="1"/>
          <p:nvPr/>
        </p:nvSpPr>
        <p:spPr>
          <a:xfrm>
            <a:off x="235317" y="-9842907"/>
            <a:ext cx="53618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Objetivo</a:t>
            </a: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Desarrollar una herramienta de apoyo al diagnóstico médico que combine Visión Artificial (Deep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Procesamiento de Lenguaje Natural (LLM). </a:t>
            </a:r>
          </a:p>
          <a:p>
            <a:pPr algn="just"/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El sistema busca identificar signos de infiltración pulmonar en radiografías de tórax y proporcionar una explicación humanizada y recomendaciones preventivas inmediatas.</a:t>
            </a:r>
          </a:p>
        </p:txBody>
      </p:sp>
      <p:pic>
        <p:nvPicPr>
          <p:cNvPr id="34" name="Gráfico 33" descr="Aula de clases con relleno sólido">
            <a:extLst>
              <a:ext uri="{FF2B5EF4-FFF2-40B4-BE49-F238E27FC236}">
                <a16:creationId xmlns:a16="http://schemas.microsoft.com/office/drawing/2014/main" id="{52894022-1368-4776-A768-14AE523E4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5043" y="-11299302"/>
            <a:ext cx="1467058" cy="1467058"/>
          </a:xfrm>
          <a:prstGeom prst="rect">
            <a:avLst/>
          </a:prstGeom>
        </p:spPr>
      </p:pic>
      <p:pic>
        <p:nvPicPr>
          <p:cNvPr id="37" name="Gráfico 36" descr="Presentación con gráfico de barras con relleno sólido">
            <a:extLst>
              <a:ext uri="{FF2B5EF4-FFF2-40B4-BE49-F238E27FC236}">
                <a16:creationId xmlns:a16="http://schemas.microsoft.com/office/drawing/2014/main" id="{069AA132-BAE6-4FCF-B3C0-31724F6C0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5829" y="-11299302"/>
            <a:ext cx="1467058" cy="146705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BE2D613-DE53-439F-93A1-18A1807F52C2}"/>
              </a:ext>
            </a:extLst>
          </p:cNvPr>
          <p:cNvSpPr txBox="1"/>
          <p:nvPr/>
        </p:nvSpPr>
        <p:spPr>
          <a:xfrm>
            <a:off x="6534139" y="-9832244"/>
            <a:ext cx="532187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Origen: Basado en el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 de radiografías de tórax (NIH/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Kaggle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enfoque en la patología de "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Infiltration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".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Características: Imágenes médicas en escala de grises, etiquetadas originalmente en formato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multietiqueta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, filtradas para un entrenamiento binario (Sano vs. Infiltración).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Volumen: Procesamiento de muestras balanceadas para evitar sesgos en la detección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073D6C3F-10C6-4519-BE7D-8110C88400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539" y="-7997379"/>
            <a:ext cx="5717040" cy="578762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2680DC18-5017-4531-9C19-6E5BE6DA8E7D}"/>
              </a:ext>
            </a:extLst>
          </p:cNvPr>
          <p:cNvSpPr txBox="1"/>
          <p:nvPr/>
        </p:nvSpPr>
        <p:spPr>
          <a:xfrm>
            <a:off x="6096000" y="-5993607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EDA (Análisis Exploratorio y Limpieza)</a:t>
            </a: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Durante esta fase, se detectaron desafíos críticos: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Desequilibrio de clases: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Mucha más presencia de casos sanos que con patología.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Ruido en las etiquetas: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Superposición de patologías (pacientes con infiltración y efusión simultánea).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Limpieza: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Se eliminaron registros con datos faltantes en el CSV y se normalizaron las rutas de las imágenes para el generador de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813450EC-6877-4C55-AADA-7529C471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606" y="9061672"/>
            <a:ext cx="12192000" cy="299847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407D1AED-0689-41E2-BAF4-30ED45167B36}"/>
              </a:ext>
            </a:extLst>
          </p:cNvPr>
          <p:cNvSpPr txBox="1"/>
          <p:nvPr/>
        </p:nvSpPr>
        <p:spPr>
          <a:xfrm>
            <a:off x="183348" y="103549"/>
            <a:ext cx="57600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Extracción y Clasificación (CNN + Transfer 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utiliza una arquitectura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ResNet50/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MobileNet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preentrenada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ImageNet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aplicó </a:t>
            </a:r>
            <a:r>
              <a:rPr lang="es-ES" sz="2000" i="1" dirty="0">
                <a:solidFill>
                  <a:schemeClr val="bg1"/>
                </a:solidFill>
                <a:latin typeface="Eras Bold ITC" panose="020B0907030504020204" pitchFamily="34" charset="0"/>
              </a:rPr>
              <a:t>Fine-</a:t>
            </a:r>
            <a:r>
              <a:rPr lang="es-ES" sz="2000" i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Tuning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para adaptar las últimas capas a la morfología de una radiografía pulmonar.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Tecnología: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/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Keras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8CB3FE3C-CE32-45D6-96A1-DA3A7D150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347" y="3248955"/>
            <a:ext cx="5833257" cy="3423256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6122F666-F139-4F54-B11A-E2D49FB665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45963"/>
          <a:stretch/>
        </p:blipFill>
        <p:spPr>
          <a:xfrm>
            <a:off x="6491042" y="190935"/>
            <a:ext cx="5321875" cy="2862322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76B86837-7509-4918-9FEB-80CE4595E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1817" y="3256437"/>
            <a:ext cx="5364970" cy="3398138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D000133-B824-41EE-80D5-BA200CB82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348" y="7726862"/>
            <a:ext cx="5833256" cy="560657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A5EC2D12-6300-41EC-8762-B0A84FD638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39" y="7732508"/>
            <a:ext cx="5321874" cy="5600929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D486D189-03C7-47EA-8711-EF26B7409B80}"/>
              </a:ext>
            </a:extLst>
          </p:cNvPr>
          <p:cNvSpPr txBox="1"/>
          <p:nvPr/>
        </p:nvSpPr>
        <p:spPr>
          <a:xfrm>
            <a:off x="138565" y="13795064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Capa Interpretativa (LLM)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El resultado numérico de la CNN se envía 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GPT-3.5/4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mediante un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prompt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estructurado para traducir un dato técnico en un informe comprensible.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A diferencia de un modelo estándar, se implementó un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umbral del 30%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Si la probabilidad de infiltración supera este margen, el sistema prioriza la seguridad del paciente y activa la alerta médica.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Usuario carga imagen →  CNN predice % →  Lógica evalúa si % &gt; 30 →  LLM redacta informe → 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Gradio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muestra resultados.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CB805671-D88E-4467-A37A-F03338C85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4138" y="13648618"/>
            <a:ext cx="5321874" cy="477001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4C942D0D-E811-4D7D-8C08-4326CB6E4A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4138" y="18733809"/>
            <a:ext cx="5313660" cy="477001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273C8029-D57C-43D6-ABB3-6683AEDAAF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3348" y="18733810"/>
            <a:ext cx="5912652" cy="4770010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1592F6F1-195B-4176-87EC-6D87C6E94B37}"/>
              </a:ext>
            </a:extLst>
          </p:cNvPr>
          <p:cNvSpPr txBox="1"/>
          <p:nvPr/>
        </p:nvSpPr>
        <p:spPr>
          <a:xfrm>
            <a:off x="5898579" y="23838626"/>
            <a:ext cx="608103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Mejoras a Futuro</a:t>
            </a:r>
          </a:p>
          <a:p>
            <a:pPr algn="just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Escalabilidad: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Migrar el modelo a la nube (AWS/GCP) para procesar cientos de imágenes en paralelo.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Soporte 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Multipatología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Entrenar la CNN para detectar neumonía, nódulos y neumotórax simultáneamente.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Mapa de Calor (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-CAM):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Añadir una visualización que marque </a:t>
            </a:r>
            <a:r>
              <a:rPr lang="es-ES" sz="2400" i="1" dirty="0">
                <a:solidFill>
                  <a:schemeClr val="bg1"/>
                </a:solidFill>
                <a:latin typeface="Eras Bold ITC" panose="020B0907030504020204" pitchFamily="34" charset="0"/>
              </a:rPr>
              <a:t>exactamente dónde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 el pulmón la CNN está viendo la infiltración.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7" name="Gráfico 66" descr="Tendencia al alza con relleno sólido">
            <a:extLst>
              <a:ext uri="{FF2B5EF4-FFF2-40B4-BE49-F238E27FC236}">
                <a16:creationId xmlns:a16="http://schemas.microsoft.com/office/drawing/2014/main" id="{2F1BDB28-F50A-47BC-B8DD-20F5C44C42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673" y="23814878"/>
            <a:ext cx="5505501" cy="5388838"/>
          </a:xfrm>
          <a:prstGeom prst="rect">
            <a:avLst/>
          </a:prstGeom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E644F6C1-DD08-45B2-BBBF-F1321F53733D}"/>
              </a:ext>
            </a:extLst>
          </p:cNvPr>
          <p:cNvSpPr txBox="1"/>
          <p:nvPr/>
        </p:nvSpPr>
        <p:spPr>
          <a:xfrm>
            <a:off x="0" y="32061364"/>
            <a:ext cx="113642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solidFill>
                  <a:schemeClr val="bg1"/>
                </a:solidFill>
                <a:latin typeface="Eras Bold ITC" panose="020B0907030504020204" pitchFamily="34" charset="0"/>
              </a:rPr>
              <a:t>Conclusiones</a:t>
            </a:r>
          </a:p>
          <a:p>
            <a:endParaRPr lang="es-ES" sz="72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74" name="Gráfico 73" descr="Internet con relleno sólido">
            <a:extLst>
              <a:ext uri="{FF2B5EF4-FFF2-40B4-BE49-F238E27FC236}">
                <a16:creationId xmlns:a16="http://schemas.microsoft.com/office/drawing/2014/main" id="{733F9B57-BB69-49E8-BD86-06CE8D24E19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82483" y="31738706"/>
            <a:ext cx="2161465" cy="216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45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B7054A1-91CE-40AB-9AA6-33568938A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56" y="-30428294"/>
            <a:ext cx="12192000" cy="2998470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B3297F58-E0E7-4CAF-B694-670AE8627513}"/>
              </a:ext>
            </a:extLst>
          </p:cNvPr>
          <p:cNvSpPr txBox="1"/>
          <p:nvPr/>
        </p:nvSpPr>
        <p:spPr>
          <a:xfrm>
            <a:off x="232230" y="-30286014"/>
            <a:ext cx="12620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600" dirty="0">
                <a:solidFill>
                  <a:schemeClr val="bg1"/>
                </a:solidFill>
                <a:latin typeface="Eras Bold ITC" panose="020B0907030504020204" pitchFamily="34" charset="0"/>
              </a:rPr>
              <a:t>MEDICAL IMAGE CLASIFICATION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22EE8-11CD-4424-A7C7-7A6035807AE6}"/>
              </a:ext>
            </a:extLst>
          </p:cNvPr>
          <p:cNvSpPr txBox="1"/>
          <p:nvPr/>
        </p:nvSpPr>
        <p:spPr>
          <a:xfrm>
            <a:off x="232230" y="-29331907"/>
            <a:ext cx="1504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LUNG INFILTRATION</a:t>
            </a:r>
            <a:endParaRPr lang="es-ES" sz="1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287825-3235-482B-81CD-BAAB65FAF025}"/>
              </a:ext>
            </a:extLst>
          </p:cNvPr>
          <p:cNvSpPr txBox="1"/>
          <p:nvPr/>
        </p:nvSpPr>
        <p:spPr>
          <a:xfrm>
            <a:off x="4146186" y="-22186073"/>
            <a:ext cx="7438318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Índice</a:t>
            </a: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Objetivo del Proyecto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Origen de Datos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EDA: Limpieza y Desafíos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Pipeline de Desarrollo: Flujo de Proceso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Escalabilidad y Futuro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Conclusiones y Beneficios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ES" dirty="0"/>
          </a:p>
        </p:txBody>
      </p:sp>
      <p:pic>
        <p:nvPicPr>
          <p:cNvPr id="31" name="Gráfico 30" descr="Lista con relleno sólido">
            <a:extLst>
              <a:ext uri="{FF2B5EF4-FFF2-40B4-BE49-F238E27FC236}">
                <a16:creationId xmlns:a16="http://schemas.microsoft.com/office/drawing/2014/main" id="{2FDEFCEA-F664-4CB6-B59B-99B723EF5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230" y="-22430584"/>
            <a:ext cx="3997828" cy="4305449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A35904-CFD3-4D56-BB6C-1F6369D730CA}"/>
              </a:ext>
            </a:extLst>
          </p:cNvPr>
          <p:cNvSpPr txBox="1"/>
          <p:nvPr/>
        </p:nvSpPr>
        <p:spPr>
          <a:xfrm>
            <a:off x="375873" y="-16424229"/>
            <a:ext cx="53618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Objetivo</a:t>
            </a: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Desarrollar una herramienta de apoyo al diagnóstico médico que combine Visión Artificial (Deep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Procesamiento de Lenguaje Natural (LLM). </a:t>
            </a:r>
          </a:p>
          <a:p>
            <a:pPr algn="just"/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El sistema busca identificar signos de infiltración pulmonar en radiografías de tórax y proporcionar una explicación humanizada y recomendaciones preventivas inmediatas.</a:t>
            </a:r>
          </a:p>
        </p:txBody>
      </p:sp>
      <p:pic>
        <p:nvPicPr>
          <p:cNvPr id="34" name="Gráfico 33" descr="Aula de clases con relleno sólido">
            <a:extLst>
              <a:ext uri="{FF2B5EF4-FFF2-40B4-BE49-F238E27FC236}">
                <a16:creationId xmlns:a16="http://schemas.microsoft.com/office/drawing/2014/main" id="{52894022-1368-4776-A768-14AE523E4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25599" y="-17880624"/>
            <a:ext cx="1467058" cy="1467058"/>
          </a:xfrm>
          <a:prstGeom prst="rect">
            <a:avLst/>
          </a:prstGeom>
        </p:spPr>
      </p:pic>
      <p:pic>
        <p:nvPicPr>
          <p:cNvPr id="37" name="Gráfico 36" descr="Presentación con gráfico de barras con relleno sólido">
            <a:extLst>
              <a:ext uri="{FF2B5EF4-FFF2-40B4-BE49-F238E27FC236}">
                <a16:creationId xmlns:a16="http://schemas.microsoft.com/office/drawing/2014/main" id="{069AA132-BAE6-4FCF-B3C0-31724F6C0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66385" y="-17880624"/>
            <a:ext cx="1467058" cy="146705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BE2D613-DE53-439F-93A1-18A1807F52C2}"/>
              </a:ext>
            </a:extLst>
          </p:cNvPr>
          <p:cNvSpPr txBox="1"/>
          <p:nvPr/>
        </p:nvSpPr>
        <p:spPr>
          <a:xfrm>
            <a:off x="6674695" y="-16413566"/>
            <a:ext cx="532187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Origen: Basado en el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 de radiografías de tórax (NIH/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Kaggle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enfoque en la patología de "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Infiltration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".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Características: Imágenes médicas en escala de grises, etiquetadas originalmente en formato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multietiqueta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, filtradas para un entrenamiento binario (Sano vs. Infiltración).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Volumen: Procesamiento de muestras balanceadas para evitar sesgos en la detección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073D6C3F-10C6-4519-BE7D-8110C88400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873" y="-12574929"/>
            <a:ext cx="5717040" cy="578762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2680DC18-5017-4531-9C19-6E5BE6DA8E7D}"/>
              </a:ext>
            </a:extLst>
          </p:cNvPr>
          <p:cNvSpPr txBox="1"/>
          <p:nvPr/>
        </p:nvSpPr>
        <p:spPr>
          <a:xfrm>
            <a:off x="6236556" y="-12574929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EDA (Análisis Exploratorio y Limpieza)</a:t>
            </a: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Durante esta fase, se detectaron desafíos críticos: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Desequilibrio de clases: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Mucha más presencia de casos sanos que con patología.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Ruido en las etiquetas: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Superposición de patologías (pacientes con infiltración y efusión simultánea).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Limpieza: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Se eliminaron registros con datos faltantes en el CSV y se normalizaron las rutas de las imágenes para el generador de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813450EC-6877-4C55-AADA-7529C471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99847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407D1AED-0689-41E2-BAF4-30ED45167B36}"/>
              </a:ext>
            </a:extLst>
          </p:cNvPr>
          <p:cNvSpPr txBox="1"/>
          <p:nvPr/>
        </p:nvSpPr>
        <p:spPr>
          <a:xfrm>
            <a:off x="323904" y="-6477773"/>
            <a:ext cx="57600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Extracción y Clasificación (CNN + Transfer 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utiliza una arquitectura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ResNet50/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MobileNet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preentrenada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ImageNet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aplicó </a:t>
            </a:r>
            <a:r>
              <a:rPr lang="es-ES" sz="2000" i="1" dirty="0">
                <a:solidFill>
                  <a:schemeClr val="bg1"/>
                </a:solidFill>
                <a:latin typeface="Eras Bold ITC" panose="020B0907030504020204" pitchFamily="34" charset="0"/>
              </a:rPr>
              <a:t>Fine-</a:t>
            </a:r>
            <a:r>
              <a:rPr lang="es-ES" sz="2000" i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Tuning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para adaptar las últimas capas a la morfología de una radiografía pulmonar.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Tecnología: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/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Keras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8CB3FE3C-CE32-45D6-96A1-DA3A7D150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601" y="-6534220"/>
            <a:ext cx="5833257" cy="4141921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6122F666-F139-4F54-B11A-E2D49FB665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45963"/>
          <a:stretch/>
        </p:blipFill>
        <p:spPr>
          <a:xfrm>
            <a:off x="6674694" y="-6787309"/>
            <a:ext cx="5321875" cy="3171857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76B86837-7509-4918-9FEB-80CE4595E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5437" y="-5754960"/>
            <a:ext cx="5321875" cy="4141921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D000133-B824-41EE-80D5-BA200CB82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904" y="510513"/>
            <a:ext cx="5833256" cy="560657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A5EC2D12-6300-41EC-8762-B0A84FD638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2542" y="557730"/>
            <a:ext cx="5321874" cy="5600929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D486D189-03C7-47EA-8711-EF26B7409B80}"/>
              </a:ext>
            </a:extLst>
          </p:cNvPr>
          <p:cNvSpPr txBox="1"/>
          <p:nvPr/>
        </p:nvSpPr>
        <p:spPr>
          <a:xfrm>
            <a:off x="279121" y="7213742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Capa Interpretativa (LLM)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El resultado numérico de la CNN se envía 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GPT-3.5/4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mediante un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prompt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estructurado para traducir un dato técnico en un informe comprensible.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A diferencia de un modelo estándar, se implementó un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umbral del 30%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Si la probabilidad de infiltración supera este margen, el sistema prioriza la seguridad del paciente y activa la alerta médica.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Usuario carga imagen →  CNN predice % →  Lógica evalúa si % &gt; 30 →  LLM redacta informe → 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Gradio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muestra resultados.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CB805671-D88E-4467-A37A-F03338C85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74694" y="7067296"/>
            <a:ext cx="5321874" cy="477001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4C942D0D-E811-4D7D-8C08-4326CB6E4A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74694" y="12152487"/>
            <a:ext cx="5313660" cy="477001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273C8029-D57C-43D6-ABB3-6683AEDAAF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3904" y="12152488"/>
            <a:ext cx="5912652" cy="4770010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1592F6F1-195B-4176-87EC-6D87C6E94B37}"/>
              </a:ext>
            </a:extLst>
          </p:cNvPr>
          <p:cNvSpPr txBox="1"/>
          <p:nvPr/>
        </p:nvSpPr>
        <p:spPr>
          <a:xfrm>
            <a:off x="6039135" y="17257304"/>
            <a:ext cx="608103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Mejoras a Futuro</a:t>
            </a:r>
          </a:p>
          <a:p>
            <a:pPr algn="just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Escalabilidad: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Migrar el modelo a la nube (AWS/GCP) para procesar cientos de imágenes en paralelo.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Soporte 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Multipatología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Entrenar la CNN para detectar neumonía, nódulos y neumotórax simultáneamente.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Mapa de Calor (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-CAM):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Añadir una visualización que marque </a:t>
            </a:r>
            <a:r>
              <a:rPr lang="es-ES" sz="2400" i="1" dirty="0">
                <a:solidFill>
                  <a:schemeClr val="bg1"/>
                </a:solidFill>
                <a:latin typeface="Eras Bold ITC" panose="020B0907030504020204" pitchFamily="34" charset="0"/>
              </a:rPr>
              <a:t>exactamente dónde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 el pulmón la CNN está viendo la infiltración.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7" name="Gráfico 66" descr="Tendencia al alza con relleno sólido">
            <a:extLst>
              <a:ext uri="{FF2B5EF4-FFF2-40B4-BE49-F238E27FC236}">
                <a16:creationId xmlns:a16="http://schemas.microsoft.com/office/drawing/2014/main" id="{2F1BDB28-F50A-47BC-B8DD-20F5C44C42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2229" y="17233556"/>
            <a:ext cx="5505501" cy="5388838"/>
          </a:xfrm>
          <a:prstGeom prst="rect">
            <a:avLst/>
          </a:prstGeom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E644F6C1-DD08-45B2-BBBF-F1321F53733D}"/>
              </a:ext>
            </a:extLst>
          </p:cNvPr>
          <p:cNvSpPr txBox="1"/>
          <p:nvPr/>
        </p:nvSpPr>
        <p:spPr>
          <a:xfrm>
            <a:off x="140556" y="25480042"/>
            <a:ext cx="113642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solidFill>
                  <a:schemeClr val="bg1"/>
                </a:solidFill>
                <a:latin typeface="Eras Bold ITC" panose="020B0907030504020204" pitchFamily="34" charset="0"/>
              </a:rPr>
              <a:t>Conclusiones</a:t>
            </a:r>
          </a:p>
          <a:p>
            <a:endParaRPr lang="es-ES" sz="72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74" name="Gráfico 73" descr="Internet con relleno sólido">
            <a:extLst>
              <a:ext uri="{FF2B5EF4-FFF2-40B4-BE49-F238E27FC236}">
                <a16:creationId xmlns:a16="http://schemas.microsoft.com/office/drawing/2014/main" id="{733F9B57-BB69-49E8-BD86-06CE8D24E19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423039" y="25157384"/>
            <a:ext cx="2161465" cy="216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385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B7054A1-91CE-40AB-9AA6-33568938A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403313"/>
            <a:ext cx="12192000" cy="2998470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B3297F58-E0E7-4CAF-B694-670AE8627513}"/>
              </a:ext>
            </a:extLst>
          </p:cNvPr>
          <p:cNvSpPr txBox="1"/>
          <p:nvPr/>
        </p:nvSpPr>
        <p:spPr>
          <a:xfrm>
            <a:off x="91674" y="-37261033"/>
            <a:ext cx="12620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600" dirty="0">
                <a:solidFill>
                  <a:schemeClr val="bg1"/>
                </a:solidFill>
                <a:latin typeface="Eras Bold ITC" panose="020B0907030504020204" pitchFamily="34" charset="0"/>
              </a:rPr>
              <a:t>MEDICAL IMAGE CLASIFICATION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22EE8-11CD-4424-A7C7-7A6035807AE6}"/>
              </a:ext>
            </a:extLst>
          </p:cNvPr>
          <p:cNvSpPr txBox="1"/>
          <p:nvPr/>
        </p:nvSpPr>
        <p:spPr>
          <a:xfrm>
            <a:off x="91674" y="-36306926"/>
            <a:ext cx="1504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LUNG INFILTRATION</a:t>
            </a:r>
            <a:endParaRPr lang="es-ES" sz="1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287825-3235-482B-81CD-BAAB65FAF025}"/>
              </a:ext>
            </a:extLst>
          </p:cNvPr>
          <p:cNvSpPr txBox="1"/>
          <p:nvPr/>
        </p:nvSpPr>
        <p:spPr>
          <a:xfrm>
            <a:off x="4005630" y="-29161092"/>
            <a:ext cx="7438318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Índice</a:t>
            </a: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Objetivo del Proyecto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Origen de Datos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EDA: Limpieza y Desafíos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Pipeline de Desarrollo: Flujo de Proceso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Escalabilidad y Futuro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Conclusiones y Beneficios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ES" dirty="0"/>
          </a:p>
        </p:txBody>
      </p:sp>
      <p:pic>
        <p:nvPicPr>
          <p:cNvPr id="31" name="Gráfico 30" descr="Lista con relleno sólido">
            <a:extLst>
              <a:ext uri="{FF2B5EF4-FFF2-40B4-BE49-F238E27FC236}">
                <a16:creationId xmlns:a16="http://schemas.microsoft.com/office/drawing/2014/main" id="{2FDEFCEA-F664-4CB6-B59B-99B723EF5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74" y="-29405603"/>
            <a:ext cx="3997828" cy="4305449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A35904-CFD3-4D56-BB6C-1F6369D730CA}"/>
              </a:ext>
            </a:extLst>
          </p:cNvPr>
          <p:cNvSpPr txBox="1"/>
          <p:nvPr/>
        </p:nvSpPr>
        <p:spPr>
          <a:xfrm>
            <a:off x="235317" y="-23399248"/>
            <a:ext cx="53618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Objetivo</a:t>
            </a: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Desarrollar una herramienta de apoyo al diagnóstico médico que combine Visión Artificial (Deep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Procesamiento de Lenguaje Natural (LLM). </a:t>
            </a:r>
          </a:p>
          <a:p>
            <a:pPr algn="just"/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El sistema busca identificar signos de infiltración pulmonar en radiografías de tórax y proporcionar una explicación humanizada y recomendaciones preventivas inmediatas.</a:t>
            </a:r>
          </a:p>
        </p:txBody>
      </p:sp>
      <p:pic>
        <p:nvPicPr>
          <p:cNvPr id="34" name="Gráfico 33" descr="Aula de clases con relleno sólido">
            <a:extLst>
              <a:ext uri="{FF2B5EF4-FFF2-40B4-BE49-F238E27FC236}">
                <a16:creationId xmlns:a16="http://schemas.microsoft.com/office/drawing/2014/main" id="{52894022-1368-4776-A768-14AE523E4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5043" y="-24855643"/>
            <a:ext cx="1467058" cy="1467058"/>
          </a:xfrm>
          <a:prstGeom prst="rect">
            <a:avLst/>
          </a:prstGeom>
        </p:spPr>
      </p:pic>
      <p:pic>
        <p:nvPicPr>
          <p:cNvPr id="37" name="Gráfico 36" descr="Presentación con gráfico de barras con relleno sólido">
            <a:extLst>
              <a:ext uri="{FF2B5EF4-FFF2-40B4-BE49-F238E27FC236}">
                <a16:creationId xmlns:a16="http://schemas.microsoft.com/office/drawing/2014/main" id="{069AA132-BAE6-4FCF-B3C0-31724F6C0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5829" y="-24855643"/>
            <a:ext cx="1467058" cy="146705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BE2D613-DE53-439F-93A1-18A1807F52C2}"/>
              </a:ext>
            </a:extLst>
          </p:cNvPr>
          <p:cNvSpPr txBox="1"/>
          <p:nvPr/>
        </p:nvSpPr>
        <p:spPr>
          <a:xfrm>
            <a:off x="6534139" y="-23388585"/>
            <a:ext cx="532187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Origen: Basado en el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 de radiografías de tórax (NIH/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Kaggle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enfoque en la patología de "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Infiltration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".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Características: Imágenes médicas en escala de grises, etiquetadas originalmente en formato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multietiqueta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, filtradas para un entrenamiento binario (Sano vs. Infiltración).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Volumen: Procesamiento de muestras balanceadas para evitar sesgos en la detección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073D6C3F-10C6-4519-BE7D-8110C88400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317" y="-19549948"/>
            <a:ext cx="5717040" cy="578762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2680DC18-5017-4531-9C19-6E5BE6DA8E7D}"/>
              </a:ext>
            </a:extLst>
          </p:cNvPr>
          <p:cNvSpPr txBox="1"/>
          <p:nvPr/>
        </p:nvSpPr>
        <p:spPr>
          <a:xfrm>
            <a:off x="6096000" y="-19549948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EDA (Análisis Exploratorio y Limpieza)</a:t>
            </a: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Durante esta fase, se detectaron desafíos críticos: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Desequilibrio de clases: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Mucha más presencia de casos sanos que con patología.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Ruido en las etiquetas: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Superposición de patologías (pacientes con infiltración y efusión simultánea).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Limpieza: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Se eliminaron registros con datos faltantes en el CSV y se normalizaron las rutas de las imágenes para el generador de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813450EC-6877-4C55-AADA-7529C471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418613"/>
            <a:ext cx="12192000" cy="299847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407D1AED-0689-41E2-BAF4-30ED45167B36}"/>
              </a:ext>
            </a:extLst>
          </p:cNvPr>
          <p:cNvSpPr txBox="1"/>
          <p:nvPr/>
        </p:nvSpPr>
        <p:spPr>
          <a:xfrm>
            <a:off x="183348" y="-13452792"/>
            <a:ext cx="57600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Extracción y Clasificación (CNN + Transfer 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utiliza una arquitectura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ResNet50/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MobileNet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preentrenada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ImageNet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aplicó </a:t>
            </a:r>
            <a:r>
              <a:rPr lang="es-ES" sz="2000" i="1" dirty="0">
                <a:solidFill>
                  <a:schemeClr val="bg1"/>
                </a:solidFill>
                <a:latin typeface="Eras Bold ITC" panose="020B0907030504020204" pitchFamily="34" charset="0"/>
              </a:rPr>
              <a:t>Fine-</a:t>
            </a:r>
            <a:r>
              <a:rPr lang="es-ES" sz="2000" i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Tuning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para adaptar las últimas capas a la morfología de una radiografía pulmonar.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Tecnología: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/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Keras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8CB3FE3C-CE32-45D6-96A1-DA3A7D150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348" y="-10280935"/>
            <a:ext cx="5833257" cy="4141921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6122F666-F139-4F54-B11A-E2D49FB665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45963"/>
          <a:stretch/>
        </p:blipFill>
        <p:spPr>
          <a:xfrm>
            <a:off x="6534138" y="-13762328"/>
            <a:ext cx="5321875" cy="3171857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76B86837-7509-4918-9FEB-80CE4595E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139" y="-10280935"/>
            <a:ext cx="5321875" cy="4141921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D000133-B824-41EE-80D5-BA200CB82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362980" y="-6495283"/>
            <a:ext cx="5833256" cy="560657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A5EC2D12-6300-41EC-8762-B0A84FD638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35282" y="-6500671"/>
            <a:ext cx="5321874" cy="5600929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D486D189-03C7-47EA-8711-EF26B7409B80}"/>
              </a:ext>
            </a:extLst>
          </p:cNvPr>
          <p:cNvSpPr txBox="1"/>
          <p:nvPr/>
        </p:nvSpPr>
        <p:spPr>
          <a:xfrm>
            <a:off x="335986" y="1131035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Capa Interpretativa (LLM)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El resultado numérico de la CNN se envía 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GPT-3.5/4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mediante un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prompt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estructurado para traducir un dato técnico en un informe comprensible.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A diferencia de un modelo estándar, se implementó un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umbral del 30%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Si la probabilidad de infiltración supera este margen, el sistema prioriza la seguridad del paciente y activa la alerta médica.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Usuario carga imagen →  CNN predice % →  Lógica evalúa si % &gt; 30 →  LLM redacta informe → 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Gradio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muestra resultados.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CB805671-D88E-4467-A37A-F03338C85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1986" y="1212004"/>
            <a:ext cx="5321874" cy="477001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4C942D0D-E811-4D7D-8C08-4326CB6E4A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3436" y="9005441"/>
            <a:ext cx="5313660" cy="477001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273C8029-D57C-43D6-ABB3-6683AEDAAF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0784" y="9005441"/>
            <a:ext cx="5912652" cy="4770010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1592F6F1-195B-4176-87EC-6D87C6E94B37}"/>
              </a:ext>
            </a:extLst>
          </p:cNvPr>
          <p:cNvSpPr txBox="1"/>
          <p:nvPr/>
        </p:nvSpPr>
        <p:spPr>
          <a:xfrm>
            <a:off x="5898579" y="10282285"/>
            <a:ext cx="608103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Mejoras a Futuro</a:t>
            </a:r>
          </a:p>
          <a:p>
            <a:pPr algn="just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Escalabilidad: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Migrar el modelo a la nube (AWS/GCP) para procesar cientos de imágenes en paralelo.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Soporte 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Multipatología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Entrenar la CNN para detectar neumonía, nódulos y neumotórax simultáneamente.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Mapa de Calor (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-CAM):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Añadir una visualización que marque </a:t>
            </a:r>
            <a:r>
              <a:rPr lang="es-ES" sz="2400" i="1" dirty="0">
                <a:solidFill>
                  <a:schemeClr val="bg1"/>
                </a:solidFill>
                <a:latin typeface="Eras Bold ITC" panose="020B0907030504020204" pitchFamily="34" charset="0"/>
              </a:rPr>
              <a:t>exactamente dónde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 el pulmón la CNN está viendo la infiltración.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7" name="Gráfico 66" descr="Tendencia al alza con relleno sólido">
            <a:extLst>
              <a:ext uri="{FF2B5EF4-FFF2-40B4-BE49-F238E27FC236}">
                <a16:creationId xmlns:a16="http://schemas.microsoft.com/office/drawing/2014/main" id="{2F1BDB28-F50A-47BC-B8DD-20F5C44C42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673" y="10258537"/>
            <a:ext cx="5505501" cy="5388838"/>
          </a:xfrm>
          <a:prstGeom prst="rect">
            <a:avLst/>
          </a:prstGeom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E644F6C1-DD08-45B2-BBBF-F1321F53733D}"/>
              </a:ext>
            </a:extLst>
          </p:cNvPr>
          <p:cNvSpPr txBox="1"/>
          <p:nvPr/>
        </p:nvSpPr>
        <p:spPr>
          <a:xfrm>
            <a:off x="0" y="18505023"/>
            <a:ext cx="113642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solidFill>
                  <a:schemeClr val="bg1"/>
                </a:solidFill>
                <a:latin typeface="Eras Bold ITC" panose="020B0907030504020204" pitchFamily="34" charset="0"/>
              </a:rPr>
              <a:t>Conclusiones</a:t>
            </a:r>
          </a:p>
          <a:p>
            <a:endParaRPr lang="es-ES" sz="72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74" name="Gráfico 73" descr="Internet con relleno sólido">
            <a:extLst>
              <a:ext uri="{FF2B5EF4-FFF2-40B4-BE49-F238E27FC236}">
                <a16:creationId xmlns:a16="http://schemas.microsoft.com/office/drawing/2014/main" id="{733F9B57-BB69-49E8-BD86-06CE8D24E19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82483" y="18182365"/>
            <a:ext cx="2161465" cy="216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524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B7054A1-91CE-40AB-9AA6-33568938A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2062400"/>
            <a:ext cx="12192000" cy="2998470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B3297F58-E0E7-4CAF-B694-670AE8627513}"/>
              </a:ext>
            </a:extLst>
          </p:cNvPr>
          <p:cNvSpPr txBox="1"/>
          <p:nvPr/>
        </p:nvSpPr>
        <p:spPr>
          <a:xfrm>
            <a:off x="91674" y="-41920120"/>
            <a:ext cx="12620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600" dirty="0">
                <a:solidFill>
                  <a:schemeClr val="bg1"/>
                </a:solidFill>
                <a:latin typeface="Eras Bold ITC" panose="020B0907030504020204" pitchFamily="34" charset="0"/>
              </a:rPr>
              <a:t>MEDICAL IMAGE CLASIFICATION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22EE8-11CD-4424-A7C7-7A6035807AE6}"/>
              </a:ext>
            </a:extLst>
          </p:cNvPr>
          <p:cNvSpPr txBox="1"/>
          <p:nvPr/>
        </p:nvSpPr>
        <p:spPr>
          <a:xfrm>
            <a:off x="91674" y="-40966013"/>
            <a:ext cx="1504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LUNG INFILTRATION</a:t>
            </a:r>
            <a:endParaRPr lang="es-ES" sz="1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287825-3235-482B-81CD-BAAB65FAF025}"/>
              </a:ext>
            </a:extLst>
          </p:cNvPr>
          <p:cNvSpPr txBox="1"/>
          <p:nvPr/>
        </p:nvSpPr>
        <p:spPr>
          <a:xfrm>
            <a:off x="4005630" y="-33820179"/>
            <a:ext cx="7438318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Índice</a:t>
            </a: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Objetivo del Proyecto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Origen de Datos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EDA: Limpieza y Desafíos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Pipeline de Desarrollo: Flujo de Proceso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Escalabilidad y Futuro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Conclusiones y Beneficios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ES" dirty="0"/>
          </a:p>
        </p:txBody>
      </p:sp>
      <p:pic>
        <p:nvPicPr>
          <p:cNvPr id="31" name="Gráfico 30" descr="Lista con relleno sólido">
            <a:extLst>
              <a:ext uri="{FF2B5EF4-FFF2-40B4-BE49-F238E27FC236}">
                <a16:creationId xmlns:a16="http://schemas.microsoft.com/office/drawing/2014/main" id="{2FDEFCEA-F664-4CB6-B59B-99B723EF5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74" y="-34064690"/>
            <a:ext cx="3997828" cy="4305449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A35904-CFD3-4D56-BB6C-1F6369D730CA}"/>
              </a:ext>
            </a:extLst>
          </p:cNvPr>
          <p:cNvSpPr txBox="1"/>
          <p:nvPr/>
        </p:nvSpPr>
        <p:spPr>
          <a:xfrm>
            <a:off x="235317" y="-28058335"/>
            <a:ext cx="53618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Objetivo</a:t>
            </a: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Desarrollar una herramienta de apoyo al diagnóstico médico que combine Visión Artificial (Deep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Procesamiento de Lenguaje Natural (LLM). </a:t>
            </a:r>
          </a:p>
          <a:p>
            <a:pPr algn="just"/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El sistema busca identificar signos de infiltración pulmonar en radiografías de tórax y proporcionar una explicación humanizada y recomendaciones preventivas inmediatas.</a:t>
            </a:r>
          </a:p>
        </p:txBody>
      </p:sp>
      <p:pic>
        <p:nvPicPr>
          <p:cNvPr id="34" name="Gráfico 33" descr="Aula de clases con relleno sólido">
            <a:extLst>
              <a:ext uri="{FF2B5EF4-FFF2-40B4-BE49-F238E27FC236}">
                <a16:creationId xmlns:a16="http://schemas.microsoft.com/office/drawing/2014/main" id="{52894022-1368-4776-A768-14AE523E4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5043" y="-29514730"/>
            <a:ext cx="1467058" cy="1467058"/>
          </a:xfrm>
          <a:prstGeom prst="rect">
            <a:avLst/>
          </a:prstGeom>
        </p:spPr>
      </p:pic>
      <p:pic>
        <p:nvPicPr>
          <p:cNvPr id="37" name="Gráfico 36" descr="Presentación con gráfico de barras con relleno sólido">
            <a:extLst>
              <a:ext uri="{FF2B5EF4-FFF2-40B4-BE49-F238E27FC236}">
                <a16:creationId xmlns:a16="http://schemas.microsoft.com/office/drawing/2014/main" id="{069AA132-BAE6-4FCF-B3C0-31724F6C0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5829" y="-29514730"/>
            <a:ext cx="1467058" cy="146705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BE2D613-DE53-439F-93A1-18A1807F52C2}"/>
              </a:ext>
            </a:extLst>
          </p:cNvPr>
          <p:cNvSpPr txBox="1"/>
          <p:nvPr/>
        </p:nvSpPr>
        <p:spPr>
          <a:xfrm>
            <a:off x="6534139" y="-28047672"/>
            <a:ext cx="532187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Origen: Basado en el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 de radiografías de tórax (NIH/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Kaggle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enfoque en la patología de "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Infiltration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".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Características: Imágenes médicas en escala de grises, etiquetadas originalmente en formato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multietiqueta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, filtradas para un entrenamiento binario (Sano vs. Infiltración).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Volumen: Procesamiento de muestras balanceadas para evitar sesgos en la detección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073D6C3F-10C6-4519-BE7D-8110C88400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317" y="-24209035"/>
            <a:ext cx="5717040" cy="578762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2680DC18-5017-4531-9C19-6E5BE6DA8E7D}"/>
              </a:ext>
            </a:extLst>
          </p:cNvPr>
          <p:cNvSpPr txBox="1"/>
          <p:nvPr/>
        </p:nvSpPr>
        <p:spPr>
          <a:xfrm>
            <a:off x="6096000" y="-24209035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EDA (Análisis Exploratorio y Limpieza)</a:t>
            </a: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Durante esta fase, se detectaron desafíos críticos: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Desequilibrio de clases: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Mucha más presencia de casos sanos que con patología.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Ruido en las etiquetas: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Superposición de patologías (pacientes con infiltración y efusión simultánea).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Limpieza: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Se eliminaron registros con datos faltantes en el CSV y se normalizaron las rutas de las imágenes para el generador de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813450EC-6877-4C55-AADA-7529C471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077700"/>
            <a:ext cx="12192000" cy="299847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407D1AED-0689-41E2-BAF4-30ED45167B36}"/>
              </a:ext>
            </a:extLst>
          </p:cNvPr>
          <p:cNvSpPr txBox="1"/>
          <p:nvPr/>
        </p:nvSpPr>
        <p:spPr>
          <a:xfrm>
            <a:off x="183348" y="-18111879"/>
            <a:ext cx="57600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Extracción y Clasificación (CNN + Transfer 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utiliza una arquitectura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ResNet50/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MobileNet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preentrenada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ImageNet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aplicó </a:t>
            </a:r>
            <a:r>
              <a:rPr lang="es-ES" sz="2000" i="1" dirty="0">
                <a:solidFill>
                  <a:schemeClr val="bg1"/>
                </a:solidFill>
                <a:latin typeface="Eras Bold ITC" panose="020B0907030504020204" pitchFamily="34" charset="0"/>
              </a:rPr>
              <a:t>Fine-</a:t>
            </a:r>
            <a:r>
              <a:rPr lang="es-ES" sz="2000" i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Tuning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para adaptar las últimas capas a la morfología de una radiografía pulmonar.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Tecnología: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/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Keras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8CB3FE3C-CE32-45D6-96A1-DA3A7D150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348" y="-14940022"/>
            <a:ext cx="5833257" cy="4141921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6122F666-F139-4F54-B11A-E2D49FB665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45963"/>
          <a:stretch/>
        </p:blipFill>
        <p:spPr>
          <a:xfrm>
            <a:off x="6534138" y="-18421415"/>
            <a:ext cx="5321875" cy="3171857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76B86837-7509-4918-9FEB-80CE4595E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139" y="-14940022"/>
            <a:ext cx="5321875" cy="4141921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D000133-B824-41EE-80D5-BA200CB82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348" y="-10488566"/>
            <a:ext cx="5833256" cy="560657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A5EC2D12-6300-41EC-8762-B0A84FD638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39" y="-10482920"/>
            <a:ext cx="5321874" cy="5600929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D486D189-03C7-47EA-8711-EF26B7409B80}"/>
              </a:ext>
            </a:extLst>
          </p:cNvPr>
          <p:cNvSpPr txBox="1"/>
          <p:nvPr/>
        </p:nvSpPr>
        <p:spPr>
          <a:xfrm>
            <a:off x="-5992048" y="-6916821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Capa Interpretativa (LLM)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El resultado numérico de la CNN se envía 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GPT-3.5/4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mediante un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prompt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estructurado para traducir un dato técnico en un informe comprensible.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A diferencia de un modelo estándar, se implementó un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umbral del 30%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Si la probabilidad de infiltración supera este margen, el sistema prioriza la seguridad del paciente y activa la alerta médica.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Usuario carga imagen →  CNN predice % →  Lógica evalúa si % &gt; 30 →  LLM redacta informe → 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Gradio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muestra resultados.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CB805671-D88E-4467-A37A-F03338C85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76007" y="-6670073"/>
            <a:ext cx="5321874" cy="477001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4C942D0D-E811-4D7D-8C08-4326CB6E4A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4138" y="1153587"/>
            <a:ext cx="5313660" cy="477001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273C8029-D57C-43D6-ABB3-6683AEDAAF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3348" y="1130974"/>
            <a:ext cx="5912652" cy="4770010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1592F6F1-195B-4176-87EC-6D87C6E94B37}"/>
              </a:ext>
            </a:extLst>
          </p:cNvPr>
          <p:cNvSpPr txBox="1"/>
          <p:nvPr/>
        </p:nvSpPr>
        <p:spPr>
          <a:xfrm>
            <a:off x="5576181" y="8978909"/>
            <a:ext cx="608103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Mejoras a Futuro</a:t>
            </a:r>
          </a:p>
          <a:p>
            <a:pPr algn="just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Escalabilidad: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Migrar el modelo a la nube (AWS/GCP) para procesar cientos de imágenes en paralelo.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Soporte 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Multipatología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Entrenar la CNN para detectar neumonía, nódulos y neumotórax simultáneamente.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Mapa de Calor (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-CAM):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Añadir una visualización que marque </a:t>
            </a:r>
            <a:r>
              <a:rPr lang="es-ES" sz="2400" i="1" dirty="0">
                <a:solidFill>
                  <a:schemeClr val="bg1"/>
                </a:solidFill>
                <a:latin typeface="Eras Bold ITC" panose="020B0907030504020204" pitchFamily="34" charset="0"/>
              </a:rPr>
              <a:t>exactamente dónde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 el pulmón la CNN está viendo la infiltración.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7" name="Gráfico 66" descr="Tendencia al alza con relleno sólido">
            <a:extLst>
              <a:ext uri="{FF2B5EF4-FFF2-40B4-BE49-F238E27FC236}">
                <a16:creationId xmlns:a16="http://schemas.microsoft.com/office/drawing/2014/main" id="{2F1BDB28-F50A-47BC-B8DD-20F5C44C42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142591" y="9871918"/>
            <a:ext cx="5505501" cy="5388838"/>
          </a:xfrm>
          <a:prstGeom prst="rect">
            <a:avLst/>
          </a:prstGeom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E644F6C1-DD08-45B2-BBBF-F1321F53733D}"/>
              </a:ext>
            </a:extLst>
          </p:cNvPr>
          <p:cNvSpPr txBox="1"/>
          <p:nvPr/>
        </p:nvSpPr>
        <p:spPr>
          <a:xfrm>
            <a:off x="0" y="13845936"/>
            <a:ext cx="113642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solidFill>
                  <a:schemeClr val="bg1"/>
                </a:solidFill>
                <a:latin typeface="Eras Bold ITC" panose="020B0907030504020204" pitchFamily="34" charset="0"/>
              </a:rPr>
              <a:t>Conclusiones</a:t>
            </a:r>
          </a:p>
          <a:p>
            <a:endParaRPr lang="es-ES" sz="72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74" name="Gráfico 73" descr="Internet con relleno sólido">
            <a:extLst>
              <a:ext uri="{FF2B5EF4-FFF2-40B4-BE49-F238E27FC236}">
                <a16:creationId xmlns:a16="http://schemas.microsoft.com/office/drawing/2014/main" id="{733F9B57-BB69-49E8-BD86-06CE8D24E19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82483" y="13523278"/>
            <a:ext cx="2161465" cy="216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586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B7054A1-91CE-40AB-9AA6-33568938A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661850"/>
            <a:ext cx="12192000" cy="2998470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B3297F58-E0E7-4CAF-B694-670AE8627513}"/>
              </a:ext>
            </a:extLst>
          </p:cNvPr>
          <p:cNvSpPr txBox="1"/>
          <p:nvPr/>
        </p:nvSpPr>
        <p:spPr>
          <a:xfrm>
            <a:off x="91674" y="-47519570"/>
            <a:ext cx="12620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600" dirty="0">
                <a:solidFill>
                  <a:schemeClr val="bg1"/>
                </a:solidFill>
                <a:latin typeface="Eras Bold ITC" panose="020B0907030504020204" pitchFamily="34" charset="0"/>
              </a:rPr>
              <a:t>MEDICAL IMAGE CLASIFICATION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22EE8-11CD-4424-A7C7-7A6035807AE6}"/>
              </a:ext>
            </a:extLst>
          </p:cNvPr>
          <p:cNvSpPr txBox="1"/>
          <p:nvPr/>
        </p:nvSpPr>
        <p:spPr>
          <a:xfrm>
            <a:off x="91674" y="-46565463"/>
            <a:ext cx="1504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LUNG INFILTRATION</a:t>
            </a:r>
            <a:endParaRPr lang="es-ES" sz="1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287825-3235-482B-81CD-BAAB65FAF025}"/>
              </a:ext>
            </a:extLst>
          </p:cNvPr>
          <p:cNvSpPr txBox="1"/>
          <p:nvPr/>
        </p:nvSpPr>
        <p:spPr>
          <a:xfrm>
            <a:off x="4005630" y="-39419629"/>
            <a:ext cx="7438318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Índice</a:t>
            </a: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Objetivo del Proyecto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Origen de Datos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EDA: Limpieza y Desafíos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Pipeline de Desarrollo: Flujo de Proceso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Escalabilidad y Futuro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Conclusiones y Beneficios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ES" dirty="0"/>
          </a:p>
        </p:txBody>
      </p:sp>
      <p:pic>
        <p:nvPicPr>
          <p:cNvPr id="31" name="Gráfico 30" descr="Lista con relleno sólido">
            <a:extLst>
              <a:ext uri="{FF2B5EF4-FFF2-40B4-BE49-F238E27FC236}">
                <a16:creationId xmlns:a16="http://schemas.microsoft.com/office/drawing/2014/main" id="{2FDEFCEA-F664-4CB6-B59B-99B723EF5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74" y="-39664140"/>
            <a:ext cx="3997828" cy="4305449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A35904-CFD3-4D56-BB6C-1F6369D730CA}"/>
              </a:ext>
            </a:extLst>
          </p:cNvPr>
          <p:cNvSpPr txBox="1"/>
          <p:nvPr/>
        </p:nvSpPr>
        <p:spPr>
          <a:xfrm>
            <a:off x="235317" y="-33657785"/>
            <a:ext cx="53618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Objetivo</a:t>
            </a: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Desarrollar una herramienta de apoyo al diagnóstico médico que combine Visión Artificial (Deep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Procesamiento de Lenguaje Natural (LLM). </a:t>
            </a:r>
          </a:p>
          <a:p>
            <a:pPr algn="just"/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El sistema busca identificar signos de infiltración pulmonar en radiografías de tórax y proporcionar una explicación humanizada y recomendaciones preventivas inmediatas.</a:t>
            </a:r>
          </a:p>
        </p:txBody>
      </p:sp>
      <p:pic>
        <p:nvPicPr>
          <p:cNvPr id="34" name="Gráfico 33" descr="Aula de clases con relleno sólido">
            <a:extLst>
              <a:ext uri="{FF2B5EF4-FFF2-40B4-BE49-F238E27FC236}">
                <a16:creationId xmlns:a16="http://schemas.microsoft.com/office/drawing/2014/main" id="{52894022-1368-4776-A768-14AE523E4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5043" y="-35114180"/>
            <a:ext cx="1467058" cy="1467058"/>
          </a:xfrm>
          <a:prstGeom prst="rect">
            <a:avLst/>
          </a:prstGeom>
        </p:spPr>
      </p:pic>
      <p:pic>
        <p:nvPicPr>
          <p:cNvPr id="37" name="Gráfico 36" descr="Presentación con gráfico de barras con relleno sólido">
            <a:extLst>
              <a:ext uri="{FF2B5EF4-FFF2-40B4-BE49-F238E27FC236}">
                <a16:creationId xmlns:a16="http://schemas.microsoft.com/office/drawing/2014/main" id="{069AA132-BAE6-4FCF-B3C0-31724F6C0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5829" y="-35114180"/>
            <a:ext cx="1467058" cy="146705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BE2D613-DE53-439F-93A1-18A1807F52C2}"/>
              </a:ext>
            </a:extLst>
          </p:cNvPr>
          <p:cNvSpPr txBox="1"/>
          <p:nvPr/>
        </p:nvSpPr>
        <p:spPr>
          <a:xfrm>
            <a:off x="6534139" y="-33647122"/>
            <a:ext cx="532187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Origen: Basado en el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 de radiografías de tórax (NIH/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Kaggle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enfoque en la patología de "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Infiltration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".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Características: Imágenes médicas en escala de grises, etiquetadas originalmente en formato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multietiqueta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, filtradas para un entrenamiento binario (Sano vs. Infiltración).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Volumen: Procesamiento de muestras balanceadas para evitar sesgos en la detección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073D6C3F-10C6-4519-BE7D-8110C88400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317" y="-29808485"/>
            <a:ext cx="5717040" cy="578762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2680DC18-5017-4531-9C19-6E5BE6DA8E7D}"/>
              </a:ext>
            </a:extLst>
          </p:cNvPr>
          <p:cNvSpPr txBox="1"/>
          <p:nvPr/>
        </p:nvSpPr>
        <p:spPr>
          <a:xfrm>
            <a:off x="6096000" y="-29808485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EDA (Análisis Exploratorio y Limpieza)</a:t>
            </a: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Durante esta fase, se detectaron desafíos críticos: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Desequilibrio de clases: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Mucha más presencia de casos sanos que con patología.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Ruido en las etiquetas: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Superposición de patologías (pacientes con infiltración y efusión simultánea).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Limpieza: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Se eliminaron registros con datos faltantes en el CSV y se normalizaron las rutas de las imágenes para el generador de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813450EC-6877-4C55-AADA-7529C471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677150"/>
            <a:ext cx="12192000" cy="299847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407D1AED-0689-41E2-BAF4-30ED45167B36}"/>
              </a:ext>
            </a:extLst>
          </p:cNvPr>
          <p:cNvSpPr txBox="1"/>
          <p:nvPr/>
        </p:nvSpPr>
        <p:spPr>
          <a:xfrm>
            <a:off x="183348" y="-23711329"/>
            <a:ext cx="57600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Extracción y Clasificación (CNN + Transfer 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utiliza una arquitectura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ResNet50/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MobileNet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preentrenada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ImageNet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aplicó </a:t>
            </a:r>
            <a:r>
              <a:rPr lang="es-ES" sz="2000" i="1" dirty="0">
                <a:solidFill>
                  <a:schemeClr val="bg1"/>
                </a:solidFill>
                <a:latin typeface="Eras Bold ITC" panose="020B0907030504020204" pitchFamily="34" charset="0"/>
              </a:rPr>
              <a:t>Fine-</a:t>
            </a:r>
            <a:r>
              <a:rPr lang="es-ES" sz="2000" i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Tuning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para adaptar las últimas capas a la morfología de una radiografía pulmonar.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Tecnología: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/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Keras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8CB3FE3C-CE32-45D6-96A1-DA3A7D150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348" y="-20539472"/>
            <a:ext cx="5833257" cy="4141921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6122F666-F139-4F54-B11A-E2D49FB665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45963"/>
          <a:stretch/>
        </p:blipFill>
        <p:spPr>
          <a:xfrm>
            <a:off x="6534138" y="-24020865"/>
            <a:ext cx="5321875" cy="3171857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76B86837-7509-4918-9FEB-80CE4595E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139" y="-20539472"/>
            <a:ext cx="5321875" cy="4141921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D000133-B824-41EE-80D5-BA200CB82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348" y="-16088016"/>
            <a:ext cx="5833256" cy="560657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A5EC2D12-6300-41EC-8762-B0A84FD638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39" y="-16082370"/>
            <a:ext cx="5321874" cy="5600929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D486D189-03C7-47EA-8711-EF26B7409B80}"/>
              </a:ext>
            </a:extLst>
          </p:cNvPr>
          <p:cNvSpPr txBox="1"/>
          <p:nvPr/>
        </p:nvSpPr>
        <p:spPr>
          <a:xfrm>
            <a:off x="138565" y="-10019814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Capa Interpretativa (LLM)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El resultado numérico de la CNN se envía 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GPT-3.5/4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mediante un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prompt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estructurado para traducir un dato técnico en un informe comprensible.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A diferencia de un modelo estándar, se implementó un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umbral del 30%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Si la probabilidad de infiltración supera este margen, el sistema prioriza la seguridad del paciente y activa la alerta médica.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Usuario carga imagen →  CNN predice % →  Lógica evalúa si % &gt; 30 →  LLM redacta informe → 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Gradio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muestra resultados.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CB805671-D88E-4467-A37A-F03338C85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4138" y="-10166260"/>
            <a:ext cx="5321874" cy="477001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4C942D0D-E811-4D7D-8C08-4326CB6E4A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4138" y="-5081069"/>
            <a:ext cx="5313660" cy="477001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273C8029-D57C-43D6-ABB3-6683AEDAAF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3348" y="-5081068"/>
            <a:ext cx="5912652" cy="4770010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1592F6F1-195B-4176-87EC-6D87C6E94B37}"/>
              </a:ext>
            </a:extLst>
          </p:cNvPr>
          <p:cNvSpPr txBox="1"/>
          <p:nvPr/>
        </p:nvSpPr>
        <p:spPr>
          <a:xfrm>
            <a:off x="5808231" y="796821"/>
            <a:ext cx="608103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Mejoras a Futuro</a:t>
            </a:r>
          </a:p>
          <a:p>
            <a:pPr algn="just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Escalabilidad: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Migrar el modelo a la nube (AWS/GCP) para procesar cientos de imágenes en paralelo.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Soporte 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Multipatología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Entrenar la CNN para detectar neumonía, nódulos y neumotórax simultáneamente.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Mapa de Calor (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-CAM):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Añadir una visualización que marque </a:t>
            </a:r>
            <a:r>
              <a:rPr lang="es-ES" sz="2400" i="1" dirty="0">
                <a:solidFill>
                  <a:schemeClr val="bg1"/>
                </a:solidFill>
                <a:latin typeface="Eras Bold ITC" panose="020B0907030504020204" pitchFamily="34" charset="0"/>
              </a:rPr>
              <a:t>exactamente dónde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 el pulmón la CNN está viendo la infiltración.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7" name="Gráfico 66" descr="Tendencia al alza con relleno sólido">
            <a:extLst>
              <a:ext uri="{FF2B5EF4-FFF2-40B4-BE49-F238E27FC236}">
                <a16:creationId xmlns:a16="http://schemas.microsoft.com/office/drawing/2014/main" id="{2F1BDB28-F50A-47BC-B8DD-20F5C44C42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0" y="734581"/>
            <a:ext cx="5505501" cy="5388838"/>
          </a:xfrm>
          <a:prstGeom prst="rect">
            <a:avLst/>
          </a:prstGeom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E644F6C1-DD08-45B2-BBBF-F1321F53733D}"/>
              </a:ext>
            </a:extLst>
          </p:cNvPr>
          <p:cNvSpPr txBox="1"/>
          <p:nvPr/>
        </p:nvSpPr>
        <p:spPr>
          <a:xfrm>
            <a:off x="0" y="8246486"/>
            <a:ext cx="113642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solidFill>
                  <a:schemeClr val="bg1"/>
                </a:solidFill>
                <a:latin typeface="Eras Bold ITC" panose="020B0907030504020204" pitchFamily="34" charset="0"/>
              </a:rPr>
              <a:t>Conclusiones</a:t>
            </a:r>
          </a:p>
          <a:p>
            <a:endParaRPr lang="es-ES" sz="72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74" name="Gráfico 73" descr="Internet con relleno sólido">
            <a:extLst>
              <a:ext uri="{FF2B5EF4-FFF2-40B4-BE49-F238E27FC236}">
                <a16:creationId xmlns:a16="http://schemas.microsoft.com/office/drawing/2014/main" id="{733F9B57-BB69-49E8-BD86-06CE8D24E19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82483" y="7923828"/>
            <a:ext cx="2161465" cy="216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92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B7054A1-91CE-40AB-9AA6-33568938A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111400"/>
            <a:ext cx="12192000" cy="2998470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B3297F58-E0E7-4CAF-B694-670AE8627513}"/>
              </a:ext>
            </a:extLst>
          </p:cNvPr>
          <p:cNvSpPr txBox="1"/>
          <p:nvPr/>
        </p:nvSpPr>
        <p:spPr>
          <a:xfrm>
            <a:off x="91674" y="-52969120"/>
            <a:ext cx="12620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600" dirty="0">
                <a:solidFill>
                  <a:schemeClr val="bg1"/>
                </a:solidFill>
                <a:latin typeface="Eras Bold ITC" panose="020B0907030504020204" pitchFamily="34" charset="0"/>
              </a:rPr>
              <a:t>MEDICAL IMAGE CLASIFICATION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22EE8-11CD-4424-A7C7-7A6035807AE6}"/>
              </a:ext>
            </a:extLst>
          </p:cNvPr>
          <p:cNvSpPr txBox="1"/>
          <p:nvPr/>
        </p:nvSpPr>
        <p:spPr>
          <a:xfrm>
            <a:off x="91674" y="-52015013"/>
            <a:ext cx="1504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LUNG INFILTRATION</a:t>
            </a:r>
            <a:endParaRPr lang="es-ES" sz="1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287825-3235-482B-81CD-BAAB65FAF025}"/>
              </a:ext>
            </a:extLst>
          </p:cNvPr>
          <p:cNvSpPr txBox="1"/>
          <p:nvPr/>
        </p:nvSpPr>
        <p:spPr>
          <a:xfrm>
            <a:off x="4005630" y="-44869179"/>
            <a:ext cx="7438318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Índice</a:t>
            </a: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Objetivo del Proyecto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Origen de Datos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EDA: Limpieza y Desafíos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Pipeline de Desarrollo: Flujo de Proceso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Escalabilidad y Futuro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Conclusiones y Beneficios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ES" dirty="0"/>
          </a:p>
        </p:txBody>
      </p:sp>
      <p:pic>
        <p:nvPicPr>
          <p:cNvPr id="31" name="Gráfico 30" descr="Lista con relleno sólido">
            <a:extLst>
              <a:ext uri="{FF2B5EF4-FFF2-40B4-BE49-F238E27FC236}">
                <a16:creationId xmlns:a16="http://schemas.microsoft.com/office/drawing/2014/main" id="{2FDEFCEA-F664-4CB6-B59B-99B723EF5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74" y="-45113690"/>
            <a:ext cx="3997828" cy="4305449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A35904-CFD3-4D56-BB6C-1F6369D730CA}"/>
              </a:ext>
            </a:extLst>
          </p:cNvPr>
          <p:cNvSpPr txBox="1"/>
          <p:nvPr/>
        </p:nvSpPr>
        <p:spPr>
          <a:xfrm>
            <a:off x="235317" y="-39107335"/>
            <a:ext cx="53618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Objetivo</a:t>
            </a: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Desarrollar una herramienta de apoyo al diagnóstico médico que combine Visión Artificial (Deep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Procesamiento de Lenguaje Natural (LLM). </a:t>
            </a:r>
          </a:p>
          <a:p>
            <a:pPr algn="just"/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El sistema busca identificar signos de infiltración pulmonar en radiografías de tórax y proporcionar una explicación humanizada y recomendaciones preventivas inmediatas.</a:t>
            </a:r>
          </a:p>
        </p:txBody>
      </p:sp>
      <p:pic>
        <p:nvPicPr>
          <p:cNvPr id="34" name="Gráfico 33" descr="Aula de clases con relleno sólido">
            <a:extLst>
              <a:ext uri="{FF2B5EF4-FFF2-40B4-BE49-F238E27FC236}">
                <a16:creationId xmlns:a16="http://schemas.microsoft.com/office/drawing/2014/main" id="{52894022-1368-4776-A768-14AE523E4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5043" y="-40563730"/>
            <a:ext cx="1467058" cy="1467058"/>
          </a:xfrm>
          <a:prstGeom prst="rect">
            <a:avLst/>
          </a:prstGeom>
        </p:spPr>
      </p:pic>
      <p:pic>
        <p:nvPicPr>
          <p:cNvPr id="37" name="Gráfico 36" descr="Presentación con gráfico de barras con relleno sólido">
            <a:extLst>
              <a:ext uri="{FF2B5EF4-FFF2-40B4-BE49-F238E27FC236}">
                <a16:creationId xmlns:a16="http://schemas.microsoft.com/office/drawing/2014/main" id="{069AA132-BAE6-4FCF-B3C0-31724F6C0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5829" y="-40563730"/>
            <a:ext cx="1467058" cy="146705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BE2D613-DE53-439F-93A1-18A1807F52C2}"/>
              </a:ext>
            </a:extLst>
          </p:cNvPr>
          <p:cNvSpPr txBox="1"/>
          <p:nvPr/>
        </p:nvSpPr>
        <p:spPr>
          <a:xfrm>
            <a:off x="6534139" y="-39096672"/>
            <a:ext cx="532187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Origen: Basado en el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 de radiografías de tórax (NIH/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Kaggle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enfoque en la patología de "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Infiltration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".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Características: Imágenes médicas en escala de grises, etiquetadas originalmente en formato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multietiqueta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, filtradas para un entrenamiento binario (Sano vs. Infiltración).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Volumen: Procesamiento de muestras balanceadas para evitar sesgos en la detección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073D6C3F-10C6-4519-BE7D-8110C88400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317" y="-35258035"/>
            <a:ext cx="5717040" cy="578762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2680DC18-5017-4531-9C19-6E5BE6DA8E7D}"/>
              </a:ext>
            </a:extLst>
          </p:cNvPr>
          <p:cNvSpPr txBox="1"/>
          <p:nvPr/>
        </p:nvSpPr>
        <p:spPr>
          <a:xfrm>
            <a:off x="6096000" y="-35258035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EDA (Análisis Exploratorio y Limpieza)</a:t>
            </a: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Durante esta fase, se detectaron desafíos críticos: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Desequilibrio de clases: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Mucha más presencia de casos sanos que con patología.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Ruido en las etiquetas: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Superposición de patologías (pacientes con infiltración y efusión simultánea).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Limpieza: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Se eliminaron registros con datos faltantes en el CSV y se normalizaron las rutas de las imágenes para el generador de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813450EC-6877-4C55-AADA-7529C471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126700"/>
            <a:ext cx="12192000" cy="299847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407D1AED-0689-41E2-BAF4-30ED45167B36}"/>
              </a:ext>
            </a:extLst>
          </p:cNvPr>
          <p:cNvSpPr txBox="1"/>
          <p:nvPr/>
        </p:nvSpPr>
        <p:spPr>
          <a:xfrm>
            <a:off x="183348" y="-29160879"/>
            <a:ext cx="57600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Extracción y Clasificación (CNN + Transfer 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utiliza una arquitectura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ResNet50/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MobileNet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preentrenada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ImageNet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aplicó </a:t>
            </a:r>
            <a:r>
              <a:rPr lang="es-ES" sz="2000" i="1" dirty="0">
                <a:solidFill>
                  <a:schemeClr val="bg1"/>
                </a:solidFill>
                <a:latin typeface="Eras Bold ITC" panose="020B0907030504020204" pitchFamily="34" charset="0"/>
              </a:rPr>
              <a:t>Fine-</a:t>
            </a:r>
            <a:r>
              <a:rPr lang="es-ES" sz="2000" i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Tuning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para adaptar las últimas capas a la morfología de una radiografía pulmonar.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Tecnología: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/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Keras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8CB3FE3C-CE32-45D6-96A1-DA3A7D150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348" y="-25989022"/>
            <a:ext cx="5833257" cy="4141921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6122F666-F139-4F54-B11A-E2D49FB665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45963"/>
          <a:stretch/>
        </p:blipFill>
        <p:spPr>
          <a:xfrm>
            <a:off x="6534138" y="-29470415"/>
            <a:ext cx="5321875" cy="3171857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76B86837-7509-4918-9FEB-80CE4595E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139" y="-25989022"/>
            <a:ext cx="5321875" cy="4141921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D000133-B824-41EE-80D5-BA200CB82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348" y="-21537566"/>
            <a:ext cx="5833256" cy="560657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A5EC2D12-6300-41EC-8762-B0A84FD638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39" y="-21531920"/>
            <a:ext cx="5321874" cy="5600929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D486D189-03C7-47EA-8711-EF26B7409B80}"/>
              </a:ext>
            </a:extLst>
          </p:cNvPr>
          <p:cNvSpPr txBox="1"/>
          <p:nvPr/>
        </p:nvSpPr>
        <p:spPr>
          <a:xfrm>
            <a:off x="138565" y="-15469364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Capa Interpretativa (LLM)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El resultado numérico de la CNN se envía 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GPT-3.5/4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mediante un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prompt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estructurado para traducir un dato técnico en un informe comprensible.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A diferencia de un modelo estándar, se implementó un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umbral del 30%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Si la probabilidad de infiltración supera este margen, el sistema prioriza la seguridad del paciente y activa la alerta médica.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Usuario carga imagen →  CNN predice % →  Lógica evalúa si % &gt; 30 →  LLM redacta informe → 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Gradio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muestra resultados.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CB805671-D88E-4467-A37A-F03338C85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4138" y="-15615810"/>
            <a:ext cx="5321874" cy="477001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4C942D0D-E811-4D7D-8C08-4326CB6E4A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4138" y="-10530619"/>
            <a:ext cx="5313660" cy="477001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273C8029-D57C-43D6-ABB3-6683AEDAAF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3348" y="-10530618"/>
            <a:ext cx="5912652" cy="4770010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1592F6F1-195B-4176-87EC-6D87C6E94B37}"/>
              </a:ext>
            </a:extLst>
          </p:cNvPr>
          <p:cNvSpPr txBox="1"/>
          <p:nvPr/>
        </p:nvSpPr>
        <p:spPr>
          <a:xfrm>
            <a:off x="5898579" y="-5425802"/>
            <a:ext cx="608103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Mejoras a Futuro</a:t>
            </a:r>
          </a:p>
          <a:p>
            <a:pPr algn="just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Escalabilidad: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Migrar el modelo a la nube (AWS/GCP) para procesar cientos de imágenes en paralelo.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Soporte 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Multipatología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Entrenar la CNN para detectar neumonía, nódulos y neumotórax simultáneamente.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Mapa de Calor (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-CAM):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Añadir una visualización que marque </a:t>
            </a:r>
            <a:r>
              <a:rPr lang="es-ES" sz="2400" i="1" dirty="0">
                <a:solidFill>
                  <a:schemeClr val="bg1"/>
                </a:solidFill>
                <a:latin typeface="Eras Bold ITC" panose="020B0907030504020204" pitchFamily="34" charset="0"/>
              </a:rPr>
              <a:t>exactamente dónde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 el pulmón la CNN está viendo la infiltración.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7" name="Gráfico 66" descr="Tendencia al alza con relleno sólido">
            <a:extLst>
              <a:ext uri="{FF2B5EF4-FFF2-40B4-BE49-F238E27FC236}">
                <a16:creationId xmlns:a16="http://schemas.microsoft.com/office/drawing/2014/main" id="{2F1BDB28-F50A-47BC-B8DD-20F5C44C42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673" y="-5449550"/>
            <a:ext cx="5505501" cy="5388838"/>
          </a:xfrm>
          <a:prstGeom prst="rect">
            <a:avLst/>
          </a:prstGeom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E644F6C1-DD08-45B2-BBBF-F1321F53733D}"/>
              </a:ext>
            </a:extLst>
          </p:cNvPr>
          <p:cNvSpPr txBox="1"/>
          <p:nvPr/>
        </p:nvSpPr>
        <p:spPr>
          <a:xfrm>
            <a:off x="0" y="2796936"/>
            <a:ext cx="113642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solidFill>
                  <a:schemeClr val="bg1"/>
                </a:solidFill>
                <a:latin typeface="Eras Bold ITC" panose="020B0907030504020204" pitchFamily="34" charset="0"/>
              </a:rPr>
              <a:t>Conclusiones</a:t>
            </a:r>
          </a:p>
          <a:p>
            <a:endParaRPr lang="es-ES" sz="72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74" name="Gráfico 73" descr="Internet con relleno sólido">
            <a:extLst>
              <a:ext uri="{FF2B5EF4-FFF2-40B4-BE49-F238E27FC236}">
                <a16:creationId xmlns:a16="http://schemas.microsoft.com/office/drawing/2014/main" id="{733F9B57-BB69-49E8-BD86-06CE8D24E19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82483" y="2474278"/>
            <a:ext cx="2161465" cy="216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629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B7054A1-91CE-40AB-9AA6-33568938A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111400"/>
            <a:ext cx="12192000" cy="2998470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B3297F58-E0E7-4CAF-B694-670AE8627513}"/>
              </a:ext>
            </a:extLst>
          </p:cNvPr>
          <p:cNvSpPr txBox="1"/>
          <p:nvPr/>
        </p:nvSpPr>
        <p:spPr>
          <a:xfrm>
            <a:off x="91674" y="-52969120"/>
            <a:ext cx="12620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600" dirty="0">
                <a:solidFill>
                  <a:schemeClr val="bg1"/>
                </a:solidFill>
                <a:latin typeface="Eras Bold ITC" panose="020B0907030504020204" pitchFamily="34" charset="0"/>
              </a:rPr>
              <a:t>MEDICAL IMAGE CLASIFICATION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22EE8-11CD-4424-A7C7-7A6035807AE6}"/>
              </a:ext>
            </a:extLst>
          </p:cNvPr>
          <p:cNvSpPr txBox="1"/>
          <p:nvPr/>
        </p:nvSpPr>
        <p:spPr>
          <a:xfrm>
            <a:off x="91674" y="-52015013"/>
            <a:ext cx="1504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LUNG INFILTRATION</a:t>
            </a:r>
            <a:endParaRPr lang="es-ES" sz="1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287825-3235-482B-81CD-BAAB65FAF025}"/>
              </a:ext>
            </a:extLst>
          </p:cNvPr>
          <p:cNvSpPr txBox="1"/>
          <p:nvPr/>
        </p:nvSpPr>
        <p:spPr>
          <a:xfrm>
            <a:off x="4005630" y="-44869179"/>
            <a:ext cx="7438318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Índice</a:t>
            </a: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Objetivo del Proyecto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y Origen de Datos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EDA: Limpieza y Desafíos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Pipeline de Desarrollo: Flujo de Proceso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Escalabilidad y Futuro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>
              <a:buFont typeface="+mj-lt"/>
              <a:buAutoNum type="arabicPeriod"/>
            </a:pPr>
            <a:r>
              <a:rPr lang="es-E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Conclusiones y Beneficios</a:t>
            </a:r>
            <a:endParaRPr lang="es-ES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ES" dirty="0"/>
          </a:p>
        </p:txBody>
      </p:sp>
      <p:pic>
        <p:nvPicPr>
          <p:cNvPr id="31" name="Gráfico 30" descr="Lista con relleno sólido">
            <a:extLst>
              <a:ext uri="{FF2B5EF4-FFF2-40B4-BE49-F238E27FC236}">
                <a16:creationId xmlns:a16="http://schemas.microsoft.com/office/drawing/2014/main" id="{2FDEFCEA-F664-4CB6-B59B-99B723EF5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74" y="-45113690"/>
            <a:ext cx="3997828" cy="4305449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8CA35904-CFD3-4D56-BB6C-1F6369D730CA}"/>
              </a:ext>
            </a:extLst>
          </p:cNvPr>
          <p:cNvSpPr txBox="1"/>
          <p:nvPr/>
        </p:nvSpPr>
        <p:spPr>
          <a:xfrm>
            <a:off x="235317" y="-39107335"/>
            <a:ext cx="536185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Objetivo</a:t>
            </a: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Desarrollar una herramienta de apoyo al diagnóstico médico que combine Visión Artificial (Deep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Procesamiento de Lenguaje Natural (LLM). </a:t>
            </a:r>
          </a:p>
          <a:p>
            <a:pPr algn="just"/>
            <a:endParaRPr lang="es-ES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El sistema busca identificar signos de infiltración pulmonar en radiografías de tórax y proporcionar una explicación humanizada y recomendaciones preventivas inmediatas.</a:t>
            </a:r>
          </a:p>
        </p:txBody>
      </p:sp>
      <p:pic>
        <p:nvPicPr>
          <p:cNvPr id="34" name="Gráfico 33" descr="Aula de clases con relleno sólido">
            <a:extLst>
              <a:ext uri="{FF2B5EF4-FFF2-40B4-BE49-F238E27FC236}">
                <a16:creationId xmlns:a16="http://schemas.microsoft.com/office/drawing/2014/main" id="{52894022-1368-4776-A768-14AE523E4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5043" y="-40563730"/>
            <a:ext cx="1467058" cy="1467058"/>
          </a:xfrm>
          <a:prstGeom prst="rect">
            <a:avLst/>
          </a:prstGeom>
        </p:spPr>
      </p:pic>
      <p:pic>
        <p:nvPicPr>
          <p:cNvPr id="37" name="Gráfico 36" descr="Presentación con gráfico de barras con relleno sólido">
            <a:extLst>
              <a:ext uri="{FF2B5EF4-FFF2-40B4-BE49-F238E27FC236}">
                <a16:creationId xmlns:a16="http://schemas.microsoft.com/office/drawing/2014/main" id="{069AA132-BAE6-4FCF-B3C0-31724F6C0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5829" y="-40563730"/>
            <a:ext cx="1467058" cy="146705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BE2D613-DE53-439F-93A1-18A1807F52C2}"/>
              </a:ext>
            </a:extLst>
          </p:cNvPr>
          <p:cNvSpPr txBox="1"/>
          <p:nvPr/>
        </p:nvSpPr>
        <p:spPr>
          <a:xfrm>
            <a:off x="6534139" y="-39096672"/>
            <a:ext cx="532187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Origen: Basado en el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dataset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 de radiografías de tórax (NIH/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Kaggle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) con enfoque en la patología de "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Infiltration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".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Características: Imágenes médicas en escala de grises, etiquetadas originalmente en formato </a:t>
            </a:r>
            <a:r>
              <a:rPr lang="es-ES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multietiqueta</a:t>
            </a: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, filtradas para un entrenamiento binario (Sano vs. Infiltración).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latin typeface="Eras Bold ITC" panose="020B0907030504020204" pitchFamily="34" charset="0"/>
              </a:rPr>
              <a:t>Volumen: Procesamiento de muestras balanceadas para evitar sesgos en la detección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073D6C3F-10C6-4519-BE7D-8110C88400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317" y="-35258035"/>
            <a:ext cx="5717040" cy="578762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2680DC18-5017-4531-9C19-6E5BE6DA8E7D}"/>
              </a:ext>
            </a:extLst>
          </p:cNvPr>
          <p:cNvSpPr txBox="1"/>
          <p:nvPr/>
        </p:nvSpPr>
        <p:spPr>
          <a:xfrm>
            <a:off x="6096000" y="-35258035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EDA (Análisis Exploratorio y Limpieza)</a:t>
            </a: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Durante esta fase, se detectaron desafíos críticos: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Desequilibrio de clases: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Mucha más presencia de casos sanos que con patología.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Ruido en las etiquetas: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Superposición de patologías (pacientes con infiltración y efusión simultánea).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Limpieza: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Se eliminaron registros con datos faltantes en el CSV y se normalizaron las rutas de las imágenes para el generador de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813450EC-6877-4C55-AADA-7529C471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126700"/>
            <a:ext cx="12192000" cy="299847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407D1AED-0689-41E2-BAF4-30ED45167B36}"/>
              </a:ext>
            </a:extLst>
          </p:cNvPr>
          <p:cNvSpPr txBox="1"/>
          <p:nvPr/>
        </p:nvSpPr>
        <p:spPr>
          <a:xfrm>
            <a:off x="183348" y="-29160879"/>
            <a:ext cx="57600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Extracción y Clasificación (CNN + Transfer 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Learning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utiliza una arquitectura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ResNet50/</a:t>
            </a:r>
            <a:r>
              <a:rPr lang="es-ES" sz="20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MobileNet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preentrenada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ImageNet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Se aplicó </a:t>
            </a:r>
            <a:r>
              <a:rPr lang="es-ES" sz="2000" i="1" dirty="0">
                <a:solidFill>
                  <a:schemeClr val="bg1"/>
                </a:solidFill>
                <a:latin typeface="Eras Bold ITC" panose="020B0907030504020204" pitchFamily="34" charset="0"/>
              </a:rPr>
              <a:t>Fine-</a:t>
            </a:r>
            <a:r>
              <a:rPr lang="es-ES" sz="2000" i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Tuning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para adaptar las últimas capas a la morfología de una radiografía pulmonar.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Tecnología: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TensorFlow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/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Keras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8CB3FE3C-CE32-45D6-96A1-DA3A7D150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348" y="-25989022"/>
            <a:ext cx="5833257" cy="4141921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6122F666-F139-4F54-B11A-E2D49FB665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45963"/>
          <a:stretch/>
        </p:blipFill>
        <p:spPr>
          <a:xfrm>
            <a:off x="6534138" y="-29470415"/>
            <a:ext cx="5321875" cy="3171857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76B86837-7509-4918-9FEB-80CE4595E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139" y="-25989022"/>
            <a:ext cx="5321875" cy="4141921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D000133-B824-41EE-80D5-BA200CB82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348" y="-21537566"/>
            <a:ext cx="5833256" cy="560657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A5EC2D12-6300-41EC-8762-B0A84FD638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39" y="-21531920"/>
            <a:ext cx="5321874" cy="5600929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D486D189-03C7-47EA-8711-EF26B7409B80}"/>
              </a:ext>
            </a:extLst>
          </p:cNvPr>
          <p:cNvSpPr txBox="1"/>
          <p:nvPr/>
        </p:nvSpPr>
        <p:spPr>
          <a:xfrm>
            <a:off x="138565" y="-15469364"/>
            <a:ext cx="57600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Capa Interpretativa (LLM)</a:t>
            </a: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El resultado numérico de la CNN se envía a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GPT-3.5/4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mediante un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prompt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estructurado para traducir un dato técnico en un informe comprensible.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A diferencia de un modelo estándar, se implementó un </a:t>
            </a:r>
            <a:r>
              <a:rPr lang="es-ES" sz="2000" b="1" dirty="0">
                <a:solidFill>
                  <a:schemeClr val="bg1"/>
                </a:solidFill>
                <a:latin typeface="Eras Bold ITC" panose="020B0907030504020204" pitchFamily="34" charset="0"/>
              </a:rPr>
              <a:t>umbral del 30%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. Si la probabilidad de infiltración supera este margen, el sistema prioriza la seguridad del paciente y activa la alerta médica.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Usuario carga imagen →  CNN predice % →  Lógica evalúa si % &gt; 30 →  LLM redacta informe →  </a:t>
            </a:r>
            <a:r>
              <a:rPr lang="es-ES" sz="2000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Gradio</a:t>
            </a:r>
            <a:r>
              <a:rPr lang="es-E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 muestra resultados.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CB805671-D88E-4467-A37A-F03338C85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4138" y="-15615810"/>
            <a:ext cx="5321874" cy="477001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4C942D0D-E811-4D7D-8C08-4326CB6E4A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4138" y="-10530619"/>
            <a:ext cx="5313660" cy="477001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273C8029-D57C-43D6-ABB3-6683AEDAAF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3348" y="-10530618"/>
            <a:ext cx="5912652" cy="4770010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1592F6F1-195B-4176-87EC-6D87C6E94B37}"/>
              </a:ext>
            </a:extLst>
          </p:cNvPr>
          <p:cNvSpPr txBox="1"/>
          <p:nvPr/>
        </p:nvSpPr>
        <p:spPr>
          <a:xfrm>
            <a:off x="5898579" y="-5425802"/>
            <a:ext cx="608103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Mejoras a Futuro</a:t>
            </a:r>
          </a:p>
          <a:p>
            <a:pPr algn="just"/>
            <a:endParaRPr lang="es-ES" sz="2400" b="1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Escalabilidad: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Migrar el modelo a la nube (AWS/GCP) para procesar cientos de imágenes en paralelo.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Soporte 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Multipatología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Entrenar la CNN para detectar neumonía, nódulos y neumotórax simultáneamente.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Mapa de Calor (</a:t>
            </a:r>
            <a:r>
              <a:rPr lang="es-ES" sz="2400" b="1" dirty="0" err="1">
                <a:solidFill>
                  <a:schemeClr val="bg1"/>
                </a:solidFill>
                <a:latin typeface="Eras Bold ITC" panose="020B0907030504020204" pitchFamily="34" charset="0"/>
              </a:rPr>
              <a:t>Grad</a:t>
            </a:r>
            <a:r>
              <a:rPr lang="es-ES" sz="2400" b="1" dirty="0">
                <a:solidFill>
                  <a:schemeClr val="bg1"/>
                </a:solidFill>
                <a:latin typeface="Eras Bold ITC" panose="020B0907030504020204" pitchFamily="34" charset="0"/>
              </a:rPr>
              <a:t>-CAM):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Añadir una visualización que marque </a:t>
            </a:r>
            <a:r>
              <a:rPr lang="es-ES" sz="2400" i="1" dirty="0">
                <a:solidFill>
                  <a:schemeClr val="bg1"/>
                </a:solidFill>
                <a:latin typeface="Eras Bold ITC" panose="020B0907030504020204" pitchFamily="34" charset="0"/>
              </a:rPr>
              <a:t>exactamente dónde</a:t>
            </a:r>
            <a:r>
              <a:rPr lang="es-ES" sz="2400" dirty="0">
                <a:solidFill>
                  <a:schemeClr val="bg1"/>
                </a:solidFill>
                <a:latin typeface="Eras Bold ITC" panose="020B0907030504020204" pitchFamily="34" charset="0"/>
              </a:rPr>
              <a:t> en el pulmón la CNN está viendo la infiltración.</a:t>
            </a:r>
          </a:p>
          <a:p>
            <a:endParaRPr lang="es-ES" sz="20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67" name="Gráfico 66" descr="Tendencia al alza con relleno sólido">
            <a:extLst>
              <a:ext uri="{FF2B5EF4-FFF2-40B4-BE49-F238E27FC236}">
                <a16:creationId xmlns:a16="http://schemas.microsoft.com/office/drawing/2014/main" id="{2F1BDB28-F50A-47BC-B8DD-20F5C44C42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673" y="-5449550"/>
            <a:ext cx="5505501" cy="5388838"/>
          </a:xfrm>
          <a:prstGeom prst="rect">
            <a:avLst/>
          </a:prstGeom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E644F6C1-DD08-45B2-BBBF-F1321F53733D}"/>
              </a:ext>
            </a:extLst>
          </p:cNvPr>
          <p:cNvSpPr txBox="1"/>
          <p:nvPr/>
        </p:nvSpPr>
        <p:spPr>
          <a:xfrm>
            <a:off x="-1857638" y="2883902"/>
            <a:ext cx="1590727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solidFill>
                  <a:schemeClr val="bg1"/>
                </a:solidFill>
                <a:latin typeface="Eras Bold ITC" panose="020B0907030504020204" pitchFamily="34" charset="0"/>
              </a:rPr>
              <a:t>GRACIAS</a:t>
            </a:r>
          </a:p>
          <a:p>
            <a:pPr algn="ctr"/>
            <a:r>
              <a:rPr lang="es-ES" sz="8800" b="1" dirty="0">
                <a:solidFill>
                  <a:schemeClr val="bg1"/>
                </a:solidFill>
                <a:latin typeface="Eras Bold ITC" panose="020B0907030504020204" pitchFamily="34" charset="0"/>
              </a:rPr>
              <a:t>HASTA LA PROXIMA</a:t>
            </a:r>
          </a:p>
          <a:p>
            <a:endParaRPr lang="es-ES" sz="72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74" name="Gráfico 73" descr="Internet con relleno sólido">
            <a:extLst>
              <a:ext uri="{FF2B5EF4-FFF2-40B4-BE49-F238E27FC236}">
                <a16:creationId xmlns:a16="http://schemas.microsoft.com/office/drawing/2014/main" id="{733F9B57-BB69-49E8-BD86-06CE8D24E19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82483" y="2474278"/>
            <a:ext cx="2161465" cy="216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65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2863</TotalTime>
  <Words>4469</Words>
  <Application>Microsoft Office PowerPoint</Application>
  <PresentationFormat>Panorámica</PresentationFormat>
  <Paragraphs>456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Arial Rounded MT Bold</vt:lpstr>
      <vt:lpstr>Calibri</vt:lpstr>
      <vt:lpstr>Calibri Light</vt:lpstr>
      <vt:lpstr>Eras Bold ITC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david arenas</dc:creator>
  <cp:lastModifiedBy>david arenas</cp:lastModifiedBy>
  <cp:revision>13</cp:revision>
  <dcterms:created xsi:type="dcterms:W3CDTF">2026-03-25T20:52:52Z</dcterms:created>
  <dcterms:modified xsi:type="dcterms:W3CDTF">2026-03-27T20:36:30Z</dcterms:modified>
</cp:coreProperties>
</file>